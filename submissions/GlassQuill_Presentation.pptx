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4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8288000" cy="10287000"/>
  <p:notesSz cx="6858000" cy="9144000"/>
  <p:embeddedFontLst>
    <p:embeddedFont>
      <p:font typeface="TT Hoves" charset="1" panose="02000003020000060003"/>
      <p:regular r:id="rId27"/>
    </p:embeddedFont>
    <p:embeddedFont>
      <p:font typeface="TT Hoves Bold" charset="1" panose="02000003020000060003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notesMasters/notesMaster1.xml" Type="http://schemas.openxmlformats.org/officeDocument/2006/relationships/notesMaster"/><Relationship Id="rId25" Target="theme/theme2.xml" Type="http://schemas.openxmlformats.org/officeDocument/2006/relationships/theme"/><Relationship Id="rId26" Target="notesSlides/notesSlide1.xml" Type="http://schemas.openxmlformats.org/officeDocument/2006/relationships/notesSlide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notesSlides/notesSlide2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3.xml" Type="http://schemas.openxmlformats.org/officeDocument/2006/relationships/notesSlide"/><Relationship Id="rId31" Target="notesSlides/notesSlide4.xml" Type="http://schemas.openxmlformats.org/officeDocument/2006/relationships/notesSlide"/><Relationship Id="rId32" Target="notesSlides/notesSlide5.xml" Type="http://schemas.openxmlformats.org/officeDocument/2006/relationships/notesSlide"/><Relationship Id="rId33" Target="notesSlides/notesSlide6.xml" Type="http://schemas.openxmlformats.org/officeDocument/2006/relationships/notesSlide"/><Relationship Id="rId34" Target="notesSlides/notesSlide7.xml" Type="http://schemas.openxmlformats.org/officeDocument/2006/relationships/notesSlide"/><Relationship Id="rId35" Target="notesSlides/notesSlide8.xml" Type="http://schemas.openxmlformats.org/officeDocument/2006/relationships/notesSlide"/><Relationship Id="rId36" Target="notesSlides/notesSlide9.xml" Type="http://schemas.openxmlformats.org/officeDocument/2006/relationships/notesSlide"/><Relationship Id="rId37" Target="notesSlides/notesSlide10.xml" Type="http://schemas.openxmlformats.org/officeDocument/2006/relationships/notesSlide"/><Relationship Id="rId38" Target="notesSlides/notesSlide11.xml" Type="http://schemas.openxmlformats.org/officeDocument/2006/relationships/notesSlide"/><Relationship Id="rId39" Target="notesSlides/notesSlide12.xml" Type="http://schemas.openxmlformats.org/officeDocument/2006/relationships/notesSlide"/><Relationship Id="rId4" Target="theme/theme1.xml" Type="http://schemas.openxmlformats.org/officeDocument/2006/relationships/theme"/><Relationship Id="rId40" Target="notesSlides/notesSlide13.xml" Type="http://schemas.openxmlformats.org/officeDocument/2006/relationships/notesSlide"/><Relationship Id="rId41" Target="notesSlides/notesSlide14.xml" Type="http://schemas.openxmlformats.org/officeDocument/2006/relationships/notesSlide"/><Relationship Id="rId42" Target="notesSlides/notesSlide15.xml" Type="http://schemas.openxmlformats.org/officeDocument/2006/relationships/notesSlide"/><Relationship Id="rId43" Target="notesSlides/notesSlide16.xml" Type="http://schemas.openxmlformats.org/officeDocument/2006/relationships/notesSlide"/><Relationship Id="rId44" Target="notesSlides/notesSlide17.xml" Type="http://schemas.openxmlformats.org/officeDocument/2006/relationships/notesSlide"/><Relationship Id="rId45" Target="notesSlides/notesSlide18.xml" Type="http://schemas.openxmlformats.org/officeDocument/2006/relationships/notesSlid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Introduce the team and the one-line idea: GlassQuill says whether a text reads as human or AI-written, and shows the evidence behind every verdict.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Roughly 12 minutes in six parts, then the live demo and questions. Each part maps to one part of the evaluation: problem, data, method, implementation, results, conclusion.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 false positive accuses a real person of cheating. That is the costly error, so we report the false positive rate (FPR) next to accuracy everywhere.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Domain: education and content moderation, NLP text classification. Stakeholders: teachers, students, platforms and researchers. A fourth question compares SHAP and LIME explanations.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Phase I trained on HC3 only; that model called a modern ChatGPT paragraph 100% human, so we added two corpora of 2024 models. A first run above 99% exposed formatting shortcuts, which we removed.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Why three training corpora: with HC3 alone, the model called a modern ChatGPT paragraph 100% human. HAP-E and M4GT add 2024 models and 12 more genres. The chart shows text lengths per class.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The model inputs are either the raw text (TF-IDF, DistilBERT) or 18 numeric features computed from it (XGBoost). qid is never a feature: it only keeps a question's answers in one split.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Before cleaning, accuracy was 99.3%: the models were spotting formatting, not writing style. After removing the shortcuts it fell to a believable level, which proves the shortcuts were real.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Perplexity = exp of the mean negative log-probability of each token under GPT-2. LLMs pick likely words, so another language model finds their text easy to predict. Burstiness = std / mean sentence length.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Read it as a snake: top row left to right, then the bottom row right to left. The dark box is the key design choice: the verdict rule was chosen on the validation set, never on the test set.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The models go from simple and transparent to powerful and opaque, so we can measure what explainability costs. Monotone constraints stop rules like 'very even sentences mean human'.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Everything is in the GitHub repository. Trained models are committed, so the app runs without retraining. The API validates input, rate-limits each IP and never stores the text.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The verdict rule was picked on the validation set, not the test set. DistilBERT is close on accuracy but flags 3.5 times as many humans. ROC-AUC of the verdict is 0.995.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Top: confusion matrices on the test set. Bottom left: every model drops on unseen generators, but the verdict keeps the lowest false positive rate. Bottom right: paraphrasing hurts the word model most.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Live demo here: paste a ChatGPT example and a human paragraph. LIME recovered only half of the logistic regression's true top-10 words, so the app uses SHAP and exact weights instead.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Results honestly: chat models like GPT-4 are still caught 91% of the time on MAGE, but small base models sample surprising words, so their perplexity looks human to every detector we tested.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Answer to RQ2: explainable models matched the black box. The biggest lesson was data quality: shortcuts in the dataset made early results look far better than they were.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Code, report and results: github.com/ThatOneRahul/glassquill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1.png" Type="http://schemas.openxmlformats.org/officeDocument/2006/relationships/image"/><Relationship Id="rId6" Target="../media/image2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7.png" Type="http://schemas.openxmlformats.org/officeDocument/2006/relationships/image"/><Relationship Id="rId6" Target="../media/image8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9.png" Type="http://schemas.openxmlformats.org/officeDocument/2006/relationships/image"/><Relationship Id="rId6" Target="../media/image10.sv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1.png" Type="http://schemas.openxmlformats.org/officeDocument/2006/relationships/image"/><Relationship Id="rId6" Target="../media/image2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3.svg" Type="http://schemas.openxmlformats.org/officeDocument/2006/relationships/image"/><Relationship Id="rId2" Target="../notesSlides/notesSlide11.xml" Type="http://schemas.openxmlformats.org/officeDocument/2006/relationships/notesSlid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1.png" Type="http://schemas.openxmlformats.org/officeDocument/2006/relationships/image"/><Relationship Id="rId6" Target="../media/image2.svg" Type="http://schemas.openxmlformats.org/officeDocument/2006/relationships/image"/><Relationship Id="rId7" Target="../media/image20.png" Type="http://schemas.openxmlformats.org/officeDocument/2006/relationships/image"/><Relationship Id="rId8" Target="../media/image21.svg" Type="http://schemas.openxmlformats.org/officeDocument/2006/relationships/image"/><Relationship Id="rId9" Target="../media/image22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Relationship Id="rId7" Target="../media/image24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25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Relationship Id="rId7" Target="../media/image26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1.png" Type="http://schemas.openxmlformats.org/officeDocument/2006/relationships/image"/><Relationship Id="rId6" Target="../media/image2.svg" Type="http://schemas.openxmlformats.org/officeDocument/2006/relationships/image"/><Relationship Id="rId7" Target="../media/image27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6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7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28.png" Type="http://schemas.openxmlformats.org/officeDocument/2006/relationships/image"/><Relationship Id="rId6" Target="../media/image29.sv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8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107578" y="-2295430"/>
            <a:ext cx="11221860" cy="11221860"/>
          </a:xfrm>
          <a:custGeom>
            <a:avLst/>
            <a:gdLst/>
            <a:ahLst/>
            <a:cxnLst/>
            <a:rect r="r" b="b" t="t" l="l"/>
            <a:pathLst>
              <a:path h="11221860" w="11221860">
                <a:moveTo>
                  <a:pt x="0" y="0"/>
                </a:moveTo>
                <a:lnTo>
                  <a:pt x="11221859" y="0"/>
                </a:lnTo>
                <a:lnTo>
                  <a:pt x="11221859" y="11221860"/>
                </a:lnTo>
                <a:lnTo>
                  <a:pt x="0" y="1122186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2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96258" y="-667522"/>
            <a:ext cx="19680517" cy="1921478"/>
          </a:xfrm>
          <a:custGeom>
            <a:avLst/>
            <a:gdLst/>
            <a:ahLst/>
            <a:cxnLst/>
            <a:rect r="r" b="b" t="t" l="l"/>
            <a:pathLst>
              <a:path h="1921478" w="19680517">
                <a:moveTo>
                  <a:pt x="0" y="0"/>
                </a:moveTo>
                <a:lnTo>
                  <a:pt x="19680516" y="0"/>
                </a:lnTo>
                <a:lnTo>
                  <a:pt x="19680516" y="1921479"/>
                </a:lnTo>
                <a:lnTo>
                  <a:pt x="0" y="19214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4141977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SIT Pune 2026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GlassQuill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585339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Case Study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484590" y="287417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330760" y="287417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20368" y="4520565"/>
            <a:ext cx="10910392" cy="2886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218"/>
              </a:lnSpc>
            </a:pPr>
            <a:r>
              <a:rPr lang="en-US" b="true" sz="12998" spc="-636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GlassQuill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47777" y="6852285"/>
            <a:ext cx="12801600" cy="492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80"/>
              </a:lnSpc>
            </a:pPr>
            <a:r>
              <a:rPr lang="en-US" sz="4380" spc="-87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Explainable detection of AI-generated text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737360" y="7900035"/>
            <a:ext cx="15727680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Applications and Use Cases of Machine Learning (TE7483) · AIML, SIT Pune</a:t>
            </a:r>
          </a:p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Ranjan Verma (24070126149)   ·   Rahul Narkhede (24070126146)</a:t>
            </a:r>
          </a:p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Priyansh Johri (24070126142)   ·   Priyansh Pandey (24070126143)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430067" y="1936909"/>
            <a:ext cx="11221860" cy="11221860"/>
          </a:xfrm>
          <a:custGeom>
            <a:avLst/>
            <a:gdLst/>
            <a:ahLst/>
            <a:cxnLst/>
            <a:rect r="r" b="b" t="t" l="l"/>
            <a:pathLst>
              <a:path h="11221860" w="11221860">
                <a:moveTo>
                  <a:pt x="0" y="0"/>
                </a:moveTo>
                <a:lnTo>
                  <a:pt x="11221860" y="0"/>
                </a:lnTo>
                <a:lnTo>
                  <a:pt x="11221860" y="11221859"/>
                </a:lnTo>
                <a:lnTo>
                  <a:pt x="0" y="1122185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2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96258" y="-667522"/>
            <a:ext cx="19680517" cy="1921478"/>
          </a:xfrm>
          <a:custGeom>
            <a:avLst/>
            <a:gdLst/>
            <a:ahLst/>
            <a:cxnLst/>
            <a:rect r="r" b="b" t="t" l="l"/>
            <a:pathLst>
              <a:path h="1921478" w="19680517">
                <a:moveTo>
                  <a:pt x="0" y="0"/>
                </a:moveTo>
                <a:lnTo>
                  <a:pt x="19680516" y="0"/>
                </a:lnTo>
                <a:lnTo>
                  <a:pt x="19680516" y="1921479"/>
                </a:lnTo>
                <a:lnTo>
                  <a:pt x="0" y="19214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4141977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SIT Pune 2026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GlassQuill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585339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Case Study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484590" y="287417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330760" y="287417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05840" y="1758315"/>
            <a:ext cx="16276320" cy="10306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6600" spc="-150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Agenda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1560" y="2861310"/>
            <a:ext cx="16276320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4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12 minutes, then questions and a live demo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05840" y="3931920"/>
            <a:ext cx="1463040" cy="1463040"/>
            <a:chOff x="0" y="0"/>
            <a:chExt cx="1950720" cy="19507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95072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1950720"/>
                  </a:lnTo>
                  <a:lnTo>
                    <a:pt x="0" y="1950720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950720" cy="19507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99"/>
                </a:lnSpc>
              </a:pPr>
              <a:r>
                <a:rPr lang="en-US" sz="3999" b="tru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01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2834640" y="4013835"/>
            <a:ext cx="6126480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Problem and use case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why explainable detection, who needs it, scope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2 min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418320" y="3931920"/>
            <a:ext cx="1463040" cy="1463040"/>
            <a:chOff x="0" y="0"/>
            <a:chExt cx="1950720" cy="19507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5072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1950720"/>
                  </a:lnTo>
                  <a:lnTo>
                    <a:pt x="0" y="1950720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1950720" cy="19507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99"/>
                </a:lnSpc>
              </a:pPr>
              <a:r>
                <a:rPr lang="en-US" sz="3999" b="tru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02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1247120" y="4013835"/>
            <a:ext cx="6126480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Data and preprocessing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4 public datasets, cleaning, 18 features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3 min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005840" y="5806440"/>
            <a:ext cx="1463040" cy="1463040"/>
            <a:chOff x="0" y="0"/>
            <a:chExt cx="1950720" cy="19507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95072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1950720"/>
                  </a:lnTo>
                  <a:lnTo>
                    <a:pt x="0" y="1950720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0"/>
              <a:ext cx="1950720" cy="19507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99"/>
                </a:lnSpc>
              </a:pPr>
              <a:r>
                <a:rPr lang="en-US" sz="3999" b="tru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03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2834640" y="5888355"/>
            <a:ext cx="6126480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Methodology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pipeline, four models, verdict rule, validation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2 min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9418320" y="5806440"/>
            <a:ext cx="1463040" cy="1463040"/>
            <a:chOff x="0" y="0"/>
            <a:chExt cx="1950720" cy="195072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95072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1950720"/>
                  </a:lnTo>
                  <a:lnTo>
                    <a:pt x="0" y="1950720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1950720" cy="19507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99"/>
                </a:lnSpc>
              </a:pPr>
              <a:r>
                <a:rPr lang="en-US" sz="3999" b="tru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04</a:t>
              </a: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1247120" y="5888355"/>
            <a:ext cx="6126480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Implementation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code structure, reproducibility, the web app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2 min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005840" y="7680960"/>
            <a:ext cx="1463040" cy="1463040"/>
            <a:chOff x="0" y="0"/>
            <a:chExt cx="1950720" cy="19507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95072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1950720"/>
                  </a:lnTo>
                  <a:lnTo>
                    <a:pt x="0" y="1950720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1950720" cy="19507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99"/>
                </a:lnSpc>
              </a:pPr>
              <a:r>
                <a:rPr lang="en-US" sz="3999" b="tru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05</a:t>
              </a: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2834640" y="7762875"/>
            <a:ext cx="6126480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Results and analysis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metrics, comparison, robustness, explanations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2 min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9418320" y="7680960"/>
            <a:ext cx="1463040" cy="1463040"/>
            <a:chOff x="0" y="0"/>
            <a:chExt cx="1950720" cy="195072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950720" cy="1950720"/>
            </a:xfrm>
            <a:custGeom>
              <a:avLst/>
              <a:gdLst/>
              <a:ahLst/>
              <a:cxnLst/>
              <a:rect r="r" b="b" t="t" l="l"/>
              <a:pathLst>
                <a:path h="195072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1950720"/>
                  </a:lnTo>
                  <a:lnTo>
                    <a:pt x="0" y="1950720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1950720" cy="19507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99"/>
                </a:lnSpc>
              </a:pPr>
              <a:r>
                <a:rPr lang="en-US" sz="3999" b="tru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06</a:t>
              </a: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11247120" y="7762875"/>
            <a:ext cx="6126480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Conclusion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SWOT, findings and future scope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1 min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303047" y="4650276"/>
            <a:ext cx="8395745" cy="4126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39"/>
              </a:lnSpc>
            </a:pPr>
            <a:r>
              <a:rPr lang="en-US" sz="2399" spc="143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Colleges, newsrooms and hiring teams use AI-text detectors, but most return a bare score. A student who is wrongly flagged has no way to question it.</a:t>
            </a:r>
          </a:p>
          <a:p>
            <a:pPr algn="just">
              <a:lnSpc>
                <a:spcPts val="3239"/>
              </a:lnSpc>
            </a:pPr>
          </a:p>
          <a:p>
            <a:pPr algn="just">
              <a:lnSpc>
                <a:spcPts val="3239"/>
              </a:lnSpc>
            </a:pPr>
            <a:r>
              <a:rPr lang="en-US" sz="2399" spc="143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Liang et al. (2023) found popular detectors flagged over half of essays by non-native English writers as AI. GlassQuill labels English text as human or AI, explains why, and treats a low false positive rate as the main goal.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-696258" y="-1193130"/>
            <a:ext cx="7178392" cy="12095883"/>
          </a:xfrm>
          <a:custGeom>
            <a:avLst/>
            <a:gdLst/>
            <a:ahLst/>
            <a:cxnLst/>
            <a:rect r="r" b="b" t="t" l="l"/>
            <a:pathLst>
              <a:path h="12095883" w="7178392">
                <a:moveTo>
                  <a:pt x="0" y="0"/>
                </a:moveTo>
                <a:lnTo>
                  <a:pt x="7178392" y="0"/>
                </a:lnTo>
                <a:lnTo>
                  <a:pt x="7178392" y="12095883"/>
                </a:lnTo>
                <a:lnTo>
                  <a:pt x="0" y="1209588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263801" y="-4131631"/>
            <a:ext cx="7990999" cy="7990999"/>
          </a:xfrm>
          <a:custGeom>
            <a:avLst/>
            <a:gdLst/>
            <a:ahLst/>
            <a:cxnLst/>
            <a:rect r="r" b="b" t="t" l="l"/>
            <a:pathLst>
              <a:path h="7990999" w="7990999">
                <a:moveTo>
                  <a:pt x="0" y="0"/>
                </a:moveTo>
                <a:lnTo>
                  <a:pt x="7990998" y="0"/>
                </a:lnTo>
                <a:lnTo>
                  <a:pt x="7990998" y="7990999"/>
                </a:lnTo>
                <a:lnTo>
                  <a:pt x="0" y="799099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2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8126263" y="1712281"/>
            <a:ext cx="9760572" cy="2740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44"/>
              </a:lnSpc>
            </a:pPr>
            <a:r>
              <a:rPr lang="en-US" b="true" sz="12387" spc="-606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The problem</a:t>
            </a:r>
          </a:p>
        </p:txBody>
      </p:sp>
      <p:sp>
        <p:nvSpPr>
          <p:cNvPr name="TextBox 6" id="6"/>
          <p:cNvSpPr txBox="true"/>
          <p:nvPr/>
        </p:nvSpPr>
        <p:spPr>
          <a:xfrm rot="-5400000">
            <a:off x="4125239" y="7815805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GlassQuill</a:t>
            </a:r>
          </a:p>
        </p:txBody>
      </p:sp>
      <p:sp>
        <p:nvSpPr>
          <p:cNvPr name="TextBox 7" id="7"/>
          <p:cNvSpPr txBox="true"/>
          <p:nvPr/>
        </p:nvSpPr>
        <p:spPr>
          <a:xfrm rot="-5400000">
            <a:off x="4125239" y="2047980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SIT Pune 2026</a:t>
            </a:r>
          </a:p>
        </p:txBody>
      </p:sp>
      <p:sp>
        <p:nvSpPr>
          <p:cNvPr name="TextBox 8" id="8"/>
          <p:cNvSpPr txBox="true"/>
          <p:nvPr/>
        </p:nvSpPr>
        <p:spPr>
          <a:xfrm rot="-5400000">
            <a:off x="4980765" y="4931893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-1725740" y="7003323"/>
            <a:ext cx="5508869" cy="3899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3"/>
              </a:lnSpc>
            </a:pPr>
            <a:r>
              <a:rPr lang="en-US" b="true" sz="37887" spc="-1855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805628" y="-3991566"/>
            <a:ext cx="9598990" cy="9598990"/>
          </a:xfrm>
          <a:custGeom>
            <a:avLst/>
            <a:gdLst/>
            <a:ahLst/>
            <a:cxnLst/>
            <a:rect r="r" b="b" t="t" l="l"/>
            <a:pathLst>
              <a:path h="9598990" w="9598990">
                <a:moveTo>
                  <a:pt x="0" y="0"/>
                </a:moveTo>
                <a:lnTo>
                  <a:pt x="9598990" y="0"/>
                </a:lnTo>
                <a:lnTo>
                  <a:pt x="9598990" y="9598991"/>
                </a:lnTo>
                <a:lnTo>
                  <a:pt x="0" y="95989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2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04950" y="6033002"/>
            <a:ext cx="6574555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99"/>
              </a:lnSpc>
            </a:pPr>
            <a:r>
              <a:rPr lang="en-US" sz="1998" spc="118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Build an explainable human-vs-AI classifier for English text (50 to 400 words), keep humans wrongly flagged as AI low, and test it on unseen generators and paraphrased text.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9975485" y="1170261"/>
            <a:ext cx="6998065" cy="2561530"/>
          </a:xfrm>
          <a:custGeom>
            <a:avLst/>
            <a:gdLst/>
            <a:ahLst/>
            <a:cxnLst/>
            <a:rect r="r" b="b" t="t" l="l"/>
            <a:pathLst>
              <a:path h="2561530" w="6998065">
                <a:moveTo>
                  <a:pt x="0" y="0"/>
                </a:moveTo>
                <a:lnTo>
                  <a:pt x="6998065" y="0"/>
                </a:lnTo>
                <a:lnTo>
                  <a:pt x="6998065" y="2561529"/>
                </a:lnTo>
                <a:lnTo>
                  <a:pt x="0" y="256152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491673" y="2205276"/>
            <a:ext cx="1578950" cy="853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80"/>
              </a:lnSpc>
            </a:pPr>
            <a:r>
              <a:rPr lang="en-US" sz="8000" spc="-656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01.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601689" y="6817914"/>
            <a:ext cx="7498699" cy="3899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3"/>
              </a:lnSpc>
            </a:pPr>
            <a:r>
              <a:rPr lang="en-US" b="true" sz="37887" spc="-1855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02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9975485" y="3862349"/>
            <a:ext cx="6998065" cy="2561530"/>
          </a:xfrm>
          <a:custGeom>
            <a:avLst/>
            <a:gdLst/>
            <a:ahLst/>
            <a:cxnLst/>
            <a:rect r="r" b="b" t="t" l="l"/>
            <a:pathLst>
              <a:path h="2561530" w="6998065">
                <a:moveTo>
                  <a:pt x="0" y="0"/>
                </a:moveTo>
                <a:lnTo>
                  <a:pt x="6998065" y="0"/>
                </a:lnTo>
                <a:lnTo>
                  <a:pt x="6998065" y="2561530"/>
                </a:lnTo>
                <a:lnTo>
                  <a:pt x="0" y="256153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9975485" y="6557229"/>
            <a:ext cx="6998065" cy="2561530"/>
          </a:xfrm>
          <a:custGeom>
            <a:avLst/>
            <a:gdLst/>
            <a:ahLst/>
            <a:cxnLst/>
            <a:rect r="r" b="b" t="t" l="l"/>
            <a:pathLst>
              <a:path h="2561530" w="6998065">
                <a:moveTo>
                  <a:pt x="0" y="0"/>
                </a:moveTo>
                <a:lnTo>
                  <a:pt x="6998065" y="0"/>
                </a:lnTo>
                <a:lnTo>
                  <a:pt x="6998065" y="2561530"/>
                </a:lnTo>
                <a:lnTo>
                  <a:pt x="0" y="256153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491673" y="4898755"/>
            <a:ext cx="1578950" cy="853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80"/>
              </a:lnSpc>
            </a:pPr>
            <a:r>
              <a:rPr lang="en-US" sz="8000" spc="-656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02.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491673" y="7592244"/>
            <a:ext cx="1578950" cy="853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80"/>
              </a:lnSpc>
            </a:pPr>
            <a:r>
              <a:rPr lang="en-US" sz="8000" spc="-656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03.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218908" y="1711881"/>
            <a:ext cx="4132126" cy="1202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0"/>
              </a:lnSpc>
            </a:pPr>
            <a:r>
              <a:rPr lang="en-US" b="true" sz="1400" spc="22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RQ1</a:t>
            </a:r>
            <a:r>
              <a:rPr lang="en-US" sz="1400" spc="22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 Which simple signals (perplexity, sentence rhythm, vocabulary, punctuation) separate human and AI text?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218908" y="4405370"/>
            <a:ext cx="4132126" cy="1202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0"/>
              </a:lnSpc>
            </a:pPr>
            <a:r>
              <a:rPr lang="en-US" b="true" sz="1400" spc="22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RQ2</a:t>
            </a:r>
            <a:r>
              <a:rPr lang="en-US" sz="1400" spc="22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 How close can explainable models (XGBoost + SHAP) get to a black box (DistilBERT)?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218908" y="7098849"/>
            <a:ext cx="4132126" cy="1202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0"/>
              </a:lnSpc>
            </a:pPr>
            <a:r>
              <a:rPr lang="en-US" b="true" sz="1400" spc="22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RQ3</a:t>
            </a:r>
            <a:r>
              <a:rPr lang="en-US" sz="1400" spc="22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 How well do the detectors hold up on unseen LLMs and on paraphrased AI text?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04950" y="3527689"/>
            <a:ext cx="7639050" cy="24707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80"/>
              </a:lnSpc>
            </a:pPr>
            <a:r>
              <a:rPr lang="en-US" b="true" sz="9695" spc="-475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Research questions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430067" y="1936909"/>
            <a:ext cx="11221860" cy="11221860"/>
          </a:xfrm>
          <a:custGeom>
            <a:avLst/>
            <a:gdLst/>
            <a:ahLst/>
            <a:cxnLst/>
            <a:rect r="r" b="b" t="t" l="l"/>
            <a:pathLst>
              <a:path h="11221860" w="11221860">
                <a:moveTo>
                  <a:pt x="0" y="0"/>
                </a:moveTo>
                <a:lnTo>
                  <a:pt x="11221860" y="0"/>
                </a:lnTo>
                <a:lnTo>
                  <a:pt x="11221860" y="11221859"/>
                </a:lnTo>
                <a:lnTo>
                  <a:pt x="0" y="1122185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2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96258" y="-667522"/>
            <a:ext cx="19680517" cy="1921478"/>
          </a:xfrm>
          <a:custGeom>
            <a:avLst/>
            <a:gdLst/>
            <a:ahLst/>
            <a:cxnLst/>
            <a:rect r="r" b="b" t="t" l="l"/>
            <a:pathLst>
              <a:path h="1921478" w="19680517">
                <a:moveTo>
                  <a:pt x="0" y="0"/>
                </a:moveTo>
                <a:lnTo>
                  <a:pt x="19680516" y="0"/>
                </a:lnTo>
                <a:lnTo>
                  <a:pt x="19680516" y="1921479"/>
                </a:lnTo>
                <a:lnTo>
                  <a:pt x="0" y="19214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4141977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SIT Pune 2026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GlassQuill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585339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Case Study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484590" y="287417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330760" y="287417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05840" y="1758315"/>
            <a:ext cx="16276320" cy="10306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6600" spc="-150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Use case, scope and refinement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1560" y="2861310"/>
            <a:ext cx="16276320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4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Domain: education and content moderation  ·  Task: binary NLP text classification (0 = human, 1 = AI)</a:t>
            </a:r>
          </a:p>
        </p:txBody>
      </p:sp>
      <p:graphicFrame>
        <p:nvGraphicFramePr>
          <p:cNvPr name="Table 11" id="11"/>
          <p:cNvGraphicFramePr>
            <a:graphicFrameLocks noGrp="true"/>
          </p:cNvGraphicFramePr>
          <p:nvPr/>
        </p:nvGraphicFramePr>
        <p:xfrm>
          <a:off x="1005840" y="3840480"/>
          <a:ext cx="7848600" cy="2984500"/>
        </p:xfrm>
        <a:graphic>
          <a:graphicData uri="http://schemas.openxmlformats.org/drawingml/2006/table">
            <a:tbl>
              <a:tblPr/>
              <a:tblGrid>
                <a:gridCol w="3011672"/>
                <a:gridCol w="4836928"/>
              </a:tblGrid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Stakeholder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What they need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Teachers, universities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a second opinion with reasons, not a verdict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Students, writers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a fair way to question a flag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Platforms, newsrooms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screening at scale with an audit trail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Researchers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a transparent baseline for detectors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graphicFrame>
        <p:nvGraphicFramePr>
          <p:cNvPr name="Table 12" id="12"/>
          <p:cNvGraphicFramePr>
            <a:graphicFrameLocks noGrp="true"/>
          </p:cNvGraphicFramePr>
          <p:nvPr/>
        </p:nvGraphicFramePr>
        <p:xfrm>
          <a:off x="9418320" y="3840480"/>
          <a:ext cx="8039100" cy="2984500"/>
        </p:xfrm>
        <a:graphic>
          <a:graphicData uri="http://schemas.openxmlformats.org/drawingml/2006/table">
            <a:tbl>
              <a:tblPr/>
              <a:tblGrid>
                <a:gridCol w="3014662"/>
                <a:gridCol w="5024438"/>
              </a:tblGrid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Phase I plan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Final project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HC3 only (ChatGPT 2022)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+ HAP-E and M4GT: 2024 models, 17 domains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Raw HC3 text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shortcut cleaning (99.3% was fake accuracy)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XGBoost as the verdict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mean of XGBoost + LR: FPR 6.6% to 2.0%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Gradio demo in Colab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React + FastAPI app, 28 tests, script pipeline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name="TextBox 13" id="13"/>
          <p:cNvSpPr txBox="true"/>
          <p:nvPr/>
        </p:nvSpPr>
        <p:spPr>
          <a:xfrm rot="0">
            <a:off x="1097280" y="7259955"/>
            <a:ext cx="16093440" cy="1198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In scope:</a:t>
            </a:r>
            <a:r>
              <a:rPr lang="en-US" sz="18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 English text, 50 to 400 words, many genres (Q&amp;A, essays, news, fiction, academic, Reddit, Wikipedia).</a:t>
            </a:r>
          </a:p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Out of scope:</a:t>
            </a:r>
            <a:r>
              <a:rPr lang="en-US" sz="18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 other languages, source code, texts that mix human and AI writing, naming which LLM wrote a text.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706357" y="4875019"/>
            <a:ext cx="6768970" cy="3686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99"/>
              </a:lnSpc>
            </a:pPr>
            <a:r>
              <a:rPr lang="en-US" b="true" sz="1998" spc="118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HC3</a:t>
            </a:r>
            <a:r>
              <a:rPr lang="en-US" sz="1998" spc="118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 (ChatGPT vs human answers to the same questions), </a:t>
            </a:r>
            <a:r>
              <a:rPr lang="en-US" b="true" sz="1998" spc="118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HAP-E</a:t>
            </a:r>
            <a:r>
              <a:rPr lang="en-US" sz="1998" spc="118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 (GPT-4o, Llama-3; 6 genres) and </a:t>
            </a:r>
            <a:r>
              <a:rPr lang="en-US" b="true" sz="1998" spc="118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M4GT</a:t>
            </a:r>
            <a:r>
              <a:rPr lang="en-US" sz="1998" spc="118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 (GPT-4, Mixtral, Gemma, Cohere): 31,984 texts in 17 domains, 50% human and 50% AI in each.</a:t>
            </a:r>
          </a:p>
          <a:p>
            <a:pPr algn="just">
              <a:lnSpc>
                <a:spcPts val="2699"/>
              </a:lnSpc>
            </a:pPr>
          </a:p>
          <a:p>
            <a:pPr algn="just">
              <a:lnSpc>
                <a:spcPts val="2699"/>
              </a:lnSpc>
            </a:pPr>
            <a:r>
              <a:rPr lang="en-US" sz="1998" spc="118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Target: label (0 = human, 1 = AI), no missing values after cleaning. Split 70/15/15 by question or document. </a:t>
            </a:r>
            <a:r>
              <a:rPr lang="en-US" b="true" sz="1998" spc="118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MAGE</a:t>
            </a:r>
            <a:r>
              <a:rPr lang="en-US" sz="1998" spc="118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 (27 generators, 2,000 texts) is held out as the out-of-domain test.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706357" y="2011556"/>
            <a:ext cx="7639050" cy="24707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0180"/>
              </a:lnSpc>
            </a:pPr>
            <a:r>
              <a:rPr lang="en-US" b="true" sz="9695" spc="-475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Datasets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9560014" y="-2564902"/>
            <a:ext cx="16075314" cy="16075314"/>
          </a:xfrm>
          <a:custGeom>
            <a:avLst/>
            <a:gdLst/>
            <a:ahLst/>
            <a:cxnLst/>
            <a:rect r="r" b="b" t="t" l="l"/>
            <a:pathLst>
              <a:path h="16075314" w="16075314">
                <a:moveTo>
                  <a:pt x="0" y="0"/>
                </a:moveTo>
                <a:lnTo>
                  <a:pt x="16075314" y="0"/>
                </a:lnTo>
                <a:lnTo>
                  <a:pt x="16075314" y="16075314"/>
                </a:lnTo>
                <a:lnTo>
                  <a:pt x="0" y="1607531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2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696258" y="-1193130"/>
            <a:ext cx="2222592" cy="12095883"/>
          </a:xfrm>
          <a:custGeom>
            <a:avLst/>
            <a:gdLst/>
            <a:ahLst/>
            <a:cxnLst/>
            <a:rect r="r" b="b" t="t" l="l"/>
            <a:pathLst>
              <a:path h="12095883" w="2222592">
                <a:moveTo>
                  <a:pt x="0" y="0"/>
                </a:moveTo>
                <a:lnTo>
                  <a:pt x="2222592" y="0"/>
                </a:lnTo>
                <a:lnTo>
                  <a:pt x="2222592" y="12095883"/>
                </a:lnTo>
                <a:lnTo>
                  <a:pt x="0" y="12095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-5400000">
            <a:off x="-877938" y="7774686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GlassQuill</a:t>
            </a:r>
          </a:p>
        </p:txBody>
      </p:sp>
      <p:sp>
        <p:nvSpPr>
          <p:cNvPr name="TextBox 7" id="7"/>
          <p:cNvSpPr txBox="true"/>
          <p:nvPr/>
        </p:nvSpPr>
        <p:spPr>
          <a:xfrm rot="-5400000">
            <a:off x="-877938" y="2006860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SIT Pune 2026</a:t>
            </a:r>
          </a:p>
        </p:txBody>
      </p:sp>
      <p:sp>
        <p:nvSpPr>
          <p:cNvPr name="TextBox 8" id="8"/>
          <p:cNvSpPr txBox="true"/>
          <p:nvPr/>
        </p:nvSpPr>
        <p:spPr>
          <a:xfrm rot="-5400000">
            <a:off x="-22412" y="4890773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130527" y="6780085"/>
            <a:ext cx="7498699" cy="3899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3"/>
              </a:lnSpc>
            </a:pPr>
            <a:r>
              <a:rPr lang="en-US" b="true" sz="37887" spc="-1855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03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0607040" y="1097280"/>
            <a:ext cx="6309360" cy="4206240"/>
            <a:chOff x="0" y="0"/>
            <a:chExt cx="8412480" cy="5608320"/>
          </a:xfrm>
        </p:grpSpPr>
        <p:sp>
          <p:nvSpPr>
            <p:cNvPr name="Freeform 11" id="11" descr="length_hist.png"/>
            <p:cNvSpPr/>
            <p:nvPr/>
          </p:nvSpPr>
          <p:spPr>
            <a:xfrm flipH="false" flipV="false" rot="0">
              <a:off x="0" y="0"/>
              <a:ext cx="8412480" cy="5608320"/>
            </a:xfrm>
            <a:custGeom>
              <a:avLst/>
              <a:gdLst/>
              <a:ahLst/>
              <a:cxnLst/>
              <a:rect r="r" b="b" t="t" l="l"/>
              <a:pathLst>
                <a:path h="560832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5608320"/>
                  </a:lnTo>
                  <a:lnTo>
                    <a:pt x="0" y="5608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430067" y="1936909"/>
            <a:ext cx="11221860" cy="11221860"/>
          </a:xfrm>
          <a:custGeom>
            <a:avLst/>
            <a:gdLst/>
            <a:ahLst/>
            <a:cxnLst/>
            <a:rect r="r" b="b" t="t" l="l"/>
            <a:pathLst>
              <a:path h="11221860" w="11221860">
                <a:moveTo>
                  <a:pt x="0" y="0"/>
                </a:moveTo>
                <a:lnTo>
                  <a:pt x="11221860" y="0"/>
                </a:lnTo>
                <a:lnTo>
                  <a:pt x="11221860" y="11221859"/>
                </a:lnTo>
                <a:lnTo>
                  <a:pt x="0" y="1122185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2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96258" y="-667522"/>
            <a:ext cx="19680517" cy="1921478"/>
          </a:xfrm>
          <a:custGeom>
            <a:avLst/>
            <a:gdLst/>
            <a:ahLst/>
            <a:cxnLst/>
            <a:rect r="r" b="b" t="t" l="l"/>
            <a:pathLst>
              <a:path h="1921478" w="19680517">
                <a:moveTo>
                  <a:pt x="0" y="0"/>
                </a:moveTo>
                <a:lnTo>
                  <a:pt x="19680516" y="0"/>
                </a:lnTo>
                <a:lnTo>
                  <a:pt x="19680516" y="1921479"/>
                </a:lnTo>
                <a:lnTo>
                  <a:pt x="0" y="19214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4141977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SIT Pune 2026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GlassQuill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585339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Case Study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484590" y="287417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330760" y="287417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05840" y="1758315"/>
            <a:ext cx="16276320" cy="10306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6600" spc="-150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Attributes, target and validation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1560" y="2861310"/>
            <a:ext cx="16276320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4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One row per text after cleaning: 31,984 texts, 0 missing values</a:t>
            </a:r>
          </a:p>
        </p:txBody>
      </p:sp>
      <p:graphicFrame>
        <p:nvGraphicFramePr>
          <p:cNvPr name="Table 11" id="11"/>
          <p:cNvGraphicFramePr>
            <a:graphicFrameLocks noGrp="true"/>
          </p:cNvGraphicFramePr>
          <p:nvPr/>
        </p:nvGraphicFramePr>
        <p:xfrm>
          <a:off x="1005840" y="3840480"/>
          <a:ext cx="8763000" cy="4775200"/>
        </p:xfrm>
        <a:graphic>
          <a:graphicData uri="http://schemas.openxmlformats.org/drawingml/2006/table">
            <a:tbl>
              <a:tblPr/>
              <a:tblGrid>
                <a:gridCol w="1916906"/>
                <a:gridCol w="1734344"/>
                <a:gridCol w="5111750"/>
              </a:tblGrid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Column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Type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Meaning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text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string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the passage: model input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label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int 0/1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target: 0 = human, 1 = AI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qid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string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question / document id, for splitting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source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category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one of 17 domains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generator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category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human or the model name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corpus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category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HC3, HAP-E or M4GT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n_words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int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words after cleaning (50 to 400)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name="Table 12" id="12"/>
          <p:cNvGraphicFramePr>
            <a:graphicFrameLocks noGrp="true"/>
          </p:cNvGraphicFramePr>
          <p:nvPr/>
        </p:nvGraphicFramePr>
        <p:xfrm>
          <a:off x="10241280" y="3840480"/>
          <a:ext cx="7112000" cy="2984500"/>
        </p:xfrm>
        <a:graphic>
          <a:graphicData uri="http://schemas.openxmlformats.org/drawingml/2006/table">
            <a:tbl>
              <a:tblPr/>
              <a:tblGrid>
                <a:gridCol w="3100103"/>
                <a:gridCol w="1914769"/>
                <a:gridCol w="2097128"/>
              </a:tblGrid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Split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Texts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Share AI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Train (70%)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22,371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0.500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Validation (15%)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4,784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0.500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Test (15%)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4,829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0.501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69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MAGE (unseen)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2,000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0.500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name="TextBox 13" id="13"/>
          <p:cNvSpPr txBox="true"/>
          <p:nvPr/>
        </p:nvSpPr>
        <p:spPr>
          <a:xfrm rot="0">
            <a:off x="10332720" y="7132320"/>
            <a:ext cx="6949440" cy="2286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Missing values:</a:t>
            </a:r>
            <a:r>
              <a:rPr lang="en-US" sz="1599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 empty and duplicate texts dropped; features divide by max(words, 1), so none are missing.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Validation:</a:t>
            </a:r>
            <a:r>
              <a:rPr lang="en-US" sz="1599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 GroupShuffleSplit by question or document, 5-fold GroupKFold for tuning, test set used once.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007222" y="1775203"/>
            <a:ext cx="2197322" cy="603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150"/>
              </a:lnSpc>
            </a:pPr>
            <a:r>
              <a:rPr lang="en-US" sz="50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01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007222" y="5350345"/>
            <a:ext cx="2197322" cy="603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150"/>
              </a:lnSpc>
            </a:pPr>
            <a:r>
              <a:rPr lang="en-US" sz="50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02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007222" y="2492750"/>
            <a:ext cx="2646493" cy="1798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5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Tokenizer leftovers: 34% of HC3 human texts had “do n't” vs 0.02% of AI texts, plus “( x )” and URL_0.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07222" y="6067892"/>
            <a:ext cx="2732865" cy="1798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5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Balanced per domain: open_qa had 20 human vs 764 AI texts, so the topic predicted the label.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616922" y="1775203"/>
            <a:ext cx="2197322" cy="603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150"/>
              </a:lnSpc>
            </a:pPr>
            <a:r>
              <a:rPr lang="en-US" sz="50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03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616922" y="2492750"/>
            <a:ext cx="2747991" cy="1503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5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Markdown bold and headings in AI text, curly quotes and literal “\n” were normalised for every source.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616922" y="5350345"/>
            <a:ext cx="2197322" cy="603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150"/>
              </a:lnSpc>
            </a:pPr>
            <a:r>
              <a:rPr lang="en-US" sz="50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04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616922" y="6067892"/>
            <a:ext cx="2646493" cy="1798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5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Split by question or document and tuned with GroupKFold, so no topic is in both train and test.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547479" y="1755600"/>
            <a:ext cx="273987" cy="501101"/>
          </a:xfrm>
          <a:custGeom>
            <a:avLst/>
            <a:gdLst/>
            <a:ahLst/>
            <a:cxnLst/>
            <a:rect r="r" b="b" t="t" l="l"/>
            <a:pathLst>
              <a:path h="501101" w="273987">
                <a:moveTo>
                  <a:pt x="0" y="0"/>
                </a:moveTo>
                <a:lnTo>
                  <a:pt x="273987" y="0"/>
                </a:lnTo>
                <a:lnTo>
                  <a:pt x="273987" y="501101"/>
                </a:lnTo>
                <a:lnTo>
                  <a:pt x="0" y="50110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547479" y="5330742"/>
            <a:ext cx="273987" cy="501101"/>
          </a:xfrm>
          <a:custGeom>
            <a:avLst/>
            <a:gdLst/>
            <a:ahLst/>
            <a:cxnLst/>
            <a:rect r="r" b="b" t="t" l="l"/>
            <a:pathLst>
              <a:path h="501101" w="273987">
                <a:moveTo>
                  <a:pt x="0" y="0"/>
                </a:moveTo>
                <a:lnTo>
                  <a:pt x="273987" y="0"/>
                </a:lnTo>
                <a:lnTo>
                  <a:pt x="273987" y="501101"/>
                </a:lnTo>
                <a:lnTo>
                  <a:pt x="0" y="50110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200013" y="5330742"/>
            <a:ext cx="273987" cy="501101"/>
          </a:xfrm>
          <a:custGeom>
            <a:avLst/>
            <a:gdLst/>
            <a:ahLst/>
            <a:cxnLst/>
            <a:rect r="r" b="b" t="t" l="l"/>
            <a:pathLst>
              <a:path h="501101" w="273987">
                <a:moveTo>
                  <a:pt x="0" y="0"/>
                </a:moveTo>
                <a:lnTo>
                  <a:pt x="273987" y="0"/>
                </a:lnTo>
                <a:lnTo>
                  <a:pt x="273987" y="501101"/>
                </a:lnTo>
                <a:lnTo>
                  <a:pt x="0" y="50110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6200013" y="1755600"/>
            <a:ext cx="273987" cy="501101"/>
          </a:xfrm>
          <a:custGeom>
            <a:avLst/>
            <a:gdLst/>
            <a:ahLst/>
            <a:cxnLst/>
            <a:rect r="r" b="b" t="t" l="l"/>
            <a:pathLst>
              <a:path h="501101" w="273987">
                <a:moveTo>
                  <a:pt x="0" y="0"/>
                </a:moveTo>
                <a:lnTo>
                  <a:pt x="273987" y="0"/>
                </a:lnTo>
                <a:lnTo>
                  <a:pt x="273987" y="501101"/>
                </a:lnTo>
                <a:lnTo>
                  <a:pt x="0" y="50110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0324014" y="6289043"/>
            <a:ext cx="6935286" cy="2784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410"/>
              </a:lnSpc>
            </a:pPr>
            <a:r>
              <a:rPr lang="en-US" b="true" sz="12696" spc="-621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Data cleaning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9555413" y="-7939545"/>
            <a:ext cx="14102686" cy="14102686"/>
          </a:xfrm>
          <a:custGeom>
            <a:avLst/>
            <a:gdLst/>
            <a:ahLst/>
            <a:cxnLst/>
            <a:rect r="r" b="b" t="t" l="l"/>
            <a:pathLst>
              <a:path h="14102686" w="14102686">
                <a:moveTo>
                  <a:pt x="0" y="0"/>
                </a:moveTo>
                <a:lnTo>
                  <a:pt x="14102687" y="0"/>
                </a:lnTo>
                <a:lnTo>
                  <a:pt x="14102687" y="14102687"/>
                </a:lnTo>
                <a:lnTo>
                  <a:pt x="0" y="1410268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2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3449412" y="41755"/>
            <a:ext cx="5066434" cy="4114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363"/>
              </a:lnSpc>
            </a:pPr>
            <a:r>
              <a:rPr lang="en-US" b="true" sz="32301" spc="-419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04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-696258" y="9041311"/>
            <a:ext cx="19680517" cy="1332929"/>
          </a:xfrm>
          <a:custGeom>
            <a:avLst/>
            <a:gdLst/>
            <a:ahLst/>
            <a:cxnLst/>
            <a:rect r="r" b="b" t="t" l="l"/>
            <a:pathLst>
              <a:path h="1332929" w="19680517">
                <a:moveTo>
                  <a:pt x="0" y="0"/>
                </a:moveTo>
                <a:lnTo>
                  <a:pt x="19680516" y="0"/>
                </a:lnTo>
                <a:lnTo>
                  <a:pt x="19680516" y="1332928"/>
                </a:lnTo>
                <a:lnTo>
                  <a:pt x="0" y="133292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4141977" y="9407690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SIT Pune 2026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28700" y="9407690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GlassQuill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585339" y="9407690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Case Study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484590" y="9407690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330760" y="9407690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2696823"/>
            <a:ext cx="8115300" cy="30576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880"/>
              </a:lnSpc>
            </a:pPr>
            <a:r>
              <a:rPr lang="en-US" b="true" sz="13278" spc="-623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The 18 features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5905500"/>
            <a:ext cx="7707573" cy="3019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99"/>
              </a:lnSpc>
            </a:pPr>
            <a:r>
              <a:rPr lang="en-US" b="true" sz="1998" spc="118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6 from GPT-2:</a:t>
            </a:r>
            <a:r>
              <a:rPr lang="en-US" sz="1998" spc="118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 how predictable each word is (log perplexity, its spread and maximum, top-1 and top-10 guess rates, entropy). AI text is easier to predict: perplexity is the strongest signal (-1.4 SD).</a:t>
            </a:r>
          </a:p>
          <a:p>
            <a:pPr algn="just">
              <a:lnSpc>
                <a:spcPts val="2699"/>
              </a:lnSpc>
            </a:pPr>
          </a:p>
          <a:p>
            <a:pPr algn="just">
              <a:lnSpc>
                <a:spcPts val="2699"/>
              </a:lnSpc>
            </a:pPr>
            <a:r>
              <a:rPr lang="en-US" b="true" sz="1998" spc="118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12 on writing style:</a:t>
            </a:r>
            <a:r>
              <a:rPr lang="en-US" sz="1998" spc="118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 sentence length and burstiness (humans 0.53 vs AI 0.38), vocabulary richness, word length, punctuation, first-person words, contractions and readability.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8480784" y="-7939545"/>
            <a:ext cx="15177316" cy="15177316"/>
          </a:xfrm>
          <a:custGeom>
            <a:avLst/>
            <a:gdLst/>
            <a:ahLst/>
            <a:cxnLst/>
            <a:rect r="r" b="b" t="t" l="l"/>
            <a:pathLst>
              <a:path h="15177316" w="15177316">
                <a:moveTo>
                  <a:pt x="0" y="0"/>
                </a:moveTo>
                <a:lnTo>
                  <a:pt x="15177316" y="0"/>
                </a:lnTo>
                <a:lnTo>
                  <a:pt x="15177316" y="15177316"/>
                </a:lnTo>
                <a:lnTo>
                  <a:pt x="0" y="151773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2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766469" y="5339801"/>
            <a:ext cx="8217789" cy="5034429"/>
          </a:xfrm>
          <a:custGeom>
            <a:avLst/>
            <a:gdLst/>
            <a:ahLst/>
            <a:cxnLst/>
            <a:rect r="r" b="b" t="t" l="l"/>
            <a:pathLst>
              <a:path h="5034429" w="8217789">
                <a:moveTo>
                  <a:pt x="0" y="0"/>
                </a:moveTo>
                <a:lnTo>
                  <a:pt x="8217789" y="0"/>
                </a:lnTo>
                <a:lnTo>
                  <a:pt x="8217789" y="5034429"/>
                </a:lnTo>
                <a:lnTo>
                  <a:pt x="0" y="503442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2719171" y="6838950"/>
            <a:ext cx="6265088" cy="3899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3"/>
              </a:lnSpc>
            </a:pPr>
            <a:r>
              <a:rPr lang="en-US" b="true" sz="37887" spc="-1855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05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160509" y="5848350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GlassQuill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172228" y="5848350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851715" y="5848350"/>
            <a:ext cx="1927460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Case Study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430067" y="1936909"/>
            <a:ext cx="11221860" cy="11221860"/>
          </a:xfrm>
          <a:custGeom>
            <a:avLst/>
            <a:gdLst/>
            <a:ahLst/>
            <a:cxnLst/>
            <a:rect r="r" b="b" t="t" l="l"/>
            <a:pathLst>
              <a:path h="11221860" w="11221860">
                <a:moveTo>
                  <a:pt x="0" y="0"/>
                </a:moveTo>
                <a:lnTo>
                  <a:pt x="11221860" y="0"/>
                </a:lnTo>
                <a:lnTo>
                  <a:pt x="11221860" y="11221859"/>
                </a:lnTo>
                <a:lnTo>
                  <a:pt x="0" y="1122185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2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96258" y="-667522"/>
            <a:ext cx="19680517" cy="1921478"/>
          </a:xfrm>
          <a:custGeom>
            <a:avLst/>
            <a:gdLst/>
            <a:ahLst/>
            <a:cxnLst/>
            <a:rect r="r" b="b" t="t" l="l"/>
            <a:pathLst>
              <a:path h="1921478" w="19680517">
                <a:moveTo>
                  <a:pt x="0" y="0"/>
                </a:moveTo>
                <a:lnTo>
                  <a:pt x="19680516" y="0"/>
                </a:lnTo>
                <a:lnTo>
                  <a:pt x="19680516" y="1921479"/>
                </a:lnTo>
                <a:lnTo>
                  <a:pt x="0" y="19214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4141977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SIT Pune 2026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GlassQuill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585339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Case Study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484590" y="287417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330760" y="287417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05840" y="1758315"/>
            <a:ext cx="16276320" cy="10306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6600" spc="-150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The ML pipeline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1560" y="2861310"/>
            <a:ext cx="16276320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4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run_pipeline.py: eight cached stages, seed 42, reproducible with one command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05840" y="3840480"/>
            <a:ext cx="2743200" cy="1600200"/>
            <a:chOff x="0" y="0"/>
            <a:chExt cx="3657600" cy="2133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657600" cy="2133600"/>
            </a:xfrm>
            <a:custGeom>
              <a:avLst/>
              <a:gdLst/>
              <a:ahLst/>
              <a:cxnLst/>
              <a:rect r="r" b="b" t="t" l="l"/>
              <a:pathLst>
                <a:path h="213360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133600"/>
                  </a:lnTo>
                  <a:lnTo>
                    <a:pt x="0" y="2133600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3657600" cy="2143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1  Load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FFFFFF"/>
                  </a:solidFill>
                  <a:latin typeface="TT Hoves"/>
                  <a:ea typeface="TT Hoves"/>
                  <a:cs typeface="TT Hoves"/>
                  <a:sym typeface="TT Hoves"/>
                </a:rPr>
                <a:t>HC3, HAP-E, M4GT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840480" y="4457700"/>
            <a:ext cx="365760" cy="365760"/>
            <a:chOff x="0" y="0"/>
            <a:chExt cx="487680" cy="4876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87680" cy="487680"/>
            </a:xfrm>
            <a:custGeom>
              <a:avLst/>
              <a:gdLst/>
              <a:ahLst/>
              <a:cxnLst/>
              <a:rect r="r" b="b" t="t" l="l"/>
              <a:pathLst>
                <a:path h="487680" w="487680">
                  <a:moveTo>
                    <a:pt x="0" y="121920"/>
                  </a:moveTo>
                  <a:lnTo>
                    <a:pt x="243840" y="121920"/>
                  </a:lnTo>
                  <a:lnTo>
                    <a:pt x="243840" y="0"/>
                  </a:lnTo>
                  <a:lnTo>
                    <a:pt x="487680" y="243840"/>
                  </a:lnTo>
                  <a:lnTo>
                    <a:pt x="243840" y="487680"/>
                  </a:lnTo>
                  <a:lnTo>
                    <a:pt x="243840" y="365760"/>
                  </a:lnTo>
                  <a:lnTo>
                    <a:pt x="0" y="365760"/>
                  </a:lnTo>
                  <a:close/>
                </a:path>
              </a:pathLst>
            </a:custGeom>
            <a:solidFill>
              <a:srgbClr val="34343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4297680" y="3840480"/>
            <a:ext cx="2743200" cy="1600200"/>
            <a:chOff x="0" y="0"/>
            <a:chExt cx="3657600" cy="2133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657600" cy="2133600"/>
            </a:xfrm>
            <a:custGeom>
              <a:avLst/>
              <a:gdLst/>
              <a:ahLst/>
              <a:cxnLst/>
              <a:rect r="r" b="b" t="t" l="l"/>
              <a:pathLst>
                <a:path h="213360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133600"/>
                  </a:lnTo>
                  <a:lnTo>
                    <a:pt x="0" y="2133600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3657600" cy="2143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2  Clean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FFFFFF"/>
                  </a:solidFill>
                  <a:latin typeface="TT Hoves"/>
                  <a:ea typeface="TT Hoves"/>
                  <a:cs typeface="TT Hoves"/>
                  <a:sym typeface="TT Hoves"/>
                </a:rPr>
                <a:t>remove shortcuts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7132320" y="4457700"/>
            <a:ext cx="365760" cy="365760"/>
            <a:chOff x="0" y="0"/>
            <a:chExt cx="487680" cy="4876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87680" cy="487680"/>
            </a:xfrm>
            <a:custGeom>
              <a:avLst/>
              <a:gdLst/>
              <a:ahLst/>
              <a:cxnLst/>
              <a:rect r="r" b="b" t="t" l="l"/>
              <a:pathLst>
                <a:path h="487680" w="487680">
                  <a:moveTo>
                    <a:pt x="0" y="121920"/>
                  </a:moveTo>
                  <a:lnTo>
                    <a:pt x="243840" y="121920"/>
                  </a:lnTo>
                  <a:lnTo>
                    <a:pt x="243840" y="0"/>
                  </a:lnTo>
                  <a:lnTo>
                    <a:pt x="487680" y="243840"/>
                  </a:lnTo>
                  <a:lnTo>
                    <a:pt x="243840" y="487680"/>
                  </a:lnTo>
                  <a:lnTo>
                    <a:pt x="243840" y="365760"/>
                  </a:lnTo>
                  <a:lnTo>
                    <a:pt x="0" y="365760"/>
                  </a:lnTo>
                  <a:close/>
                </a:path>
              </a:pathLst>
            </a:custGeom>
            <a:solidFill>
              <a:srgbClr val="343434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7589520" y="3840480"/>
            <a:ext cx="2743200" cy="1600200"/>
            <a:chOff x="0" y="0"/>
            <a:chExt cx="3657600" cy="21336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657600" cy="2133600"/>
            </a:xfrm>
            <a:custGeom>
              <a:avLst/>
              <a:gdLst/>
              <a:ahLst/>
              <a:cxnLst/>
              <a:rect r="r" b="b" t="t" l="l"/>
              <a:pathLst>
                <a:path h="213360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133600"/>
                  </a:lnTo>
                  <a:lnTo>
                    <a:pt x="0" y="2133600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3657600" cy="2143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3  Balance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FFFFFF"/>
                  </a:solidFill>
                  <a:latin typeface="TT Hoves"/>
                  <a:ea typeface="TT Hoves"/>
                  <a:cs typeface="TT Hoves"/>
                  <a:sym typeface="TT Hoves"/>
                </a:rPr>
                <a:t>50/50 per domain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0424160" y="4457700"/>
            <a:ext cx="365760" cy="365760"/>
            <a:chOff x="0" y="0"/>
            <a:chExt cx="487680" cy="4876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87680" cy="487680"/>
            </a:xfrm>
            <a:custGeom>
              <a:avLst/>
              <a:gdLst/>
              <a:ahLst/>
              <a:cxnLst/>
              <a:rect r="r" b="b" t="t" l="l"/>
              <a:pathLst>
                <a:path h="487680" w="487680">
                  <a:moveTo>
                    <a:pt x="0" y="121920"/>
                  </a:moveTo>
                  <a:lnTo>
                    <a:pt x="243840" y="121920"/>
                  </a:lnTo>
                  <a:lnTo>
                    <a:pt x="243840" y="0"/>
                  </a:lnTo>
                  <a:lnTo>
                    <a:pt x="487680" y="243840"/>
                  </a:lnTo>
                  <a:lnTo>
                    <a:pt x="243840" y="487680"/>
                  </a:lnTo>
                  <a:lnTo>
                    <a:pt x="243840" y="365760"/>
                  </a:lnTo>
                  <a:lnTo>
                    <a:pt x="0" y="365760"/>
                  </a:lnTo>
                  <a:close/>
                </a:path>
              </a:pathLst>
            </a:custGeom>
            <a:solidFill>
              <a:srgbClr val="343434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0881360" y="3840480"/>
            <a:ext cx="2743200" cy="1600200"/>
            <a:chOff x="0" y="0"/>
            <a:chExt cx="3657600" cy="2133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657600" cy="2133600"/>
            </a:xfrm>
            <a:custGeom>
              <a:avLst/>
              <a:gdLst/>
              <a:ahLst/>
              <a:cxnLst/>
              <a:rect r="r" b="b" t="t" l="l"/>
              <a:pathLst>
                <a:path h="213360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133600"/>
                  </a:lnTo>
                  <a:lnTo>
                    <a:pt x="0" y="2133600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3657600" cy="2143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4  Split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FFFFFF"/>
                  </a:solidFill>
                  <a:latin typeface="TT Hoves"/>
                  <a:ea typeface="TT Hoves"/>
                  <a:cs typeface="TT Hoves"/>
                  <a:sym typeface="TT Hoves"/>
                </a:rPr>
                <a:t>by group 70/15/15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3716000" y="4457700"/>
            <a:ext cx="365760" cy="365760"/>
            <a:chOff x="0" y="0"/>
            <a:chExt cx="487680" cy="48768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87680" cy="487680"/>
            </a:xfrm>
            <a:custGeom>
              <a:avLst/>
              <a:gdLst/>
              <a:ahLst/>
              <a:cxnLst/>
              <a:rect r="r" b="b" t="t" l="l"/>
              <a:pathLst>
                <a:path h="487680" w="487680">
                  <a:moveTo>
                    <a:pt x="0" y="121920"/>
                  </a:moveTo>
                  <a:lnTo>
                    <a:pt x="243840" y="121920"/>
                  </a:lnTo>
                  <a:lnTo>
                    <a:pt x="243840" y="0"/>
                  </a:lnTo>
                  <a:lnTo>
                    <a:pt x="487680" y="243840"/>
                  </a:lnTo>
                  <a:lnTo>
                    <a:pt x="243840" y="487680"/>
                  </a:lnTo>
                  <a:lnTo>
                    <a:pt x="243840" y="365760"/>
                  </a:lnTo>
                  <a:lnTo>
                    <a:pt x="0" y="365760"/>
                  </a:lnTo>
                  <a:close/>
                </a:path>
              </a:pathLst>
            </a:custGeom>
            <a:solidFill>
              <a:srgbClr val="343434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4173200" y="3840480"/>
            <a:ext cx="2743200" cy="1600200"/>
            <a:chOff x="0" y="0"/>
            <a:chExt cx="3657600" cy="21336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657600" cy="2133600"/>
            </a:xfrm>
            <a:custGeom>
              <a:avLst/>
              <a:gdLst/>
              <a:ahLst/>
              <a:cxnLst/>
              <a:rect r="r" b="b" t="t" l="l"/>
              <a:pathLst>
                <a:path h="213360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133600"/>
                  </a:lnTo>
                  <a:lnTo>
                    <a:pt x="0" y="2133600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9525"/>
              <a:ext cx="3657600" cy="2143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5  Features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FFFFFF"/>
                  </a:solidFill>
                  <a:latin typeface="TT Hoves"/>
                  <a:ea typeface="TT Hoves"/>
                  <a:cs typeface="TT Hoves"/>
                  <a:sym typeface="TT Hoves"/>
                </a:rPr>
                <a:t>18 + raw text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005840" y="6355080"/>
            <a:ext cx="2743200" cy="1600200"/>
            <a:chOff x="0" y="0"/>
            <a:chExt cx="3657600" cy="21336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657600" cy="2133600"/>
            </a:xfrm>
            <a:custGeom>
              <a:avLst/>
              <a:gdLst/>
              <a:ahLst/>
              <a:cxnLst/>
              <a:rect r="r" b="b" t="t" l="l"/>
              <a:pathLst>
                <a:path h="213360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133600"/>
                  </a:lnTo>
                  <a:lnTo>
                    <a:pt x="0" y="2133600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9525"/>
              <a:ext cx="3657600" cy="2143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10  Explain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FFFFFF"/>
                  </a:solidFill>
                  <a:latin typeface="TT Hoves"/>
                  <a:ea typeface="TT Hoves"/>
                  <a:cs typeface="TT Hoves"/>
                  <a:sym typeface="TT Hoves"/>
                </a:rPr>
                <a:t>SHAP, word weights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3840480" y="6972300"/>
            <a:ext cx="365760" cy="365760"/>
            <a:chOff x="0" y="0"/>
            <a:chExt cx="487680" cy="48768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87680" cy="487680"/>
            </a:xfrm>
            <a:custGeom>
              <a:avLst/>
              <a:gdLst/>
              <a:ahLst/>
              <a:cxnLst/>
              <a:rect r="r" b="b" t="t" l="l"/>
              <a:pathLst>
                <a:path h="487680" w="487680">
                  <a:moveTo>
                    <a:pt x="0" y="243840"/>
                  </a:moveTo>
                  <a:lnTo>
                    <a:pt x="243840" y="0"/>
                  </a:lnTo>
                  <a:lnTo>
                    <a:pt x="243840" y="121920"/>
                  </a:lnTo>
                  <a:lnTo>
                    <a:pt x="487680" y="121920"/>
                  </a:lnTo>
                  <a:lnTo>
                    <a:pt x="487680" y="365760"/>
                  </a:lnTo>
                  <a:lnTo>
                    <a:pt x="243840" y="365760"/>
                  </a:lnTo>
                  <a:lnTo>
                    <a:pt x="243840" y="487680"/>
                  </a:lnTo>
                  <a:close/>
                </a:path>
              </a:pathLst>
            </a:custGeom>
            <a:solidFill>
              <a:srgbClr val="343434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4297680" y="6355080"/>
            <a:ext cx="2743200" cy="1600200"/>
            <a:chOff x="0" y="0"/>
            <a:chExt cx="3657600" cy="21336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3657600" cy="2133600"/>
            </a:xfrm>
            <a:custGeom>
              <a:avLst/>
              <a:gdLst/>
              <a:ahLst/>
              <a:cxnLst/>
              <a:rect r="r" b="b" t="t" l="l"/>
              <a:pathLst>
                <a:path h="213360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133600"/>
                  </a:lnTo>
                  <a:lnTo>
                    <a:pt x="0" y="2133600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9525"/>
              <a:ext cx="3657600" cy="2143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9  Evaluate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FFFFFF"/>
                  </a:solidFill>
                  <a:latin typeface="TT Hoves"/>
                  <a:ea typeface="TT Hoves"/>
                  <a:cs typeface="TT Hoves"/>
                  <a:sym typeface="TT Hoves"/>
                </a:rPr>
                <a:t>test, MAGE, paraphrase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7132320" y="6972300"/>
            <a:ext cx="365760" cy="365760"/>
            <a:chOff x="0" y="0"/>
            <a:chExt cx="487680" cy="48768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87680" cy="487680"/>
            </a:xfrm>
            <a:custGeom>
              <a:avLst/>
              <a:gdLst/>
              <a:ahLst/>
              <a:cxnLst/>
              <a:rect r="r" b="b" t="t" l="l"/>
              <a:pathLst>
                <a:path h="487680" w="487680">
                  <a:moveTo>
                    <a:pt x="0" y="243840"/>
                  </a:moveTo>
                  <a:lnTo>
                    <a:pt x="243840" y="0"/>
                  </a:lnTo>
                  <a:lnTo>
                    <a:pt x="243840" y="121920"/>
                  </a:lnTo>
                  <a:lnTo>
                    <a:pt x="487680" y="121920"/>
                  </a:lnTo>
                  <a:lnTo>
                    <a:pt x="487680" y="365760"/>
                  </a:lnTo>
                  <a:lnTo>
                    <a:pt x="243840" y="365760"/>
                  </a:lnTo>
                  <a:lnTo>
                    <a:pt x="243840" y="487680"/>
                  </a:lnTo>
                  <a:close/>
                </a:path>
              </a:pathLst>
            </a:custGeom>
            <a:solidFill>
              <a:srgbClr val="343434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7589520" y="6355080"/>
            <a:ext cx="2743200" cy="1600200"/>
            <a:chOff x="0" y="0"/>
            <a:chExt cx="3657600" cy="21336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657600" cy="2133600"/>
            </a:xfrm>
            <a:custGeom>
              <a:avLst/>
              <a:gdLst/>
              <a:ahLst/>
              <a:cxnLst/>
              <a:rect r="r" b="b" t="t" l="l"/>
              <a:pathLst>
                <a:path h="213360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133600"/>
                  </a:lnTo>
                  <a:lnTo>
                    <a:pt x="0" y="2133600"/>
                  </a:lnTo>
                  <a:close/>
                </a:path>
              </a:pathLst>
            </a:custGeom>
            <a:solidFill>
              <a:srgbClr val="343434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3657600" cy="2143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8  Verdict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FFFFFF"/>
                  </a:solidFill>
                  <a:latin typeface="TT Hoves"/>
                  <a:ea typeface="TT Hoves"/>
                  <a:cs typeface="TT Hoves"/>
                  <a:sym typeface="TT Hoves"/>
                </a:rPr>
                <a:t>rule chosen on val.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424160" y="6972300"/>
            <a:ext cx="365760" cy="365760"/>
            <a:chOff x="0" y="0"/>
            <a:chExt cx="487680" cy="4876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87680" cy="487680"/>
            </a:xfrm>
            <a:custGeom>
              <a:avLst/>
              <a:gdLst/>
              <a:ahLst/>
              <a:cxnLst/>
              <a:rect r="r" b="b" t="t" l="l"/>
              <a:pathLst>
                <a:path h="487680" w="487680">
                  <a:moveTo>
                    <a:pt x="0" y="243840"/>
                  </a:moveTo>
                  <a:lnTo>
                    <a:pt x="243840" y="0"/>
                  </a:lnTo>
                  <a:lnTo>
                    <a:pt x="243840" y="121920"/>
                  </a:lnTo>
                  <a:lnTo>
                    <a:pt x="487680" y="121920"/>
                  </a:lnTo>
                  <a:lnTo>
                    <a:pt x="487680" y="365760"/>
                  </a:lnTo>
                  <a:lnTo>
                    <a:pt x="243840" y="365760"/>
                  </a:lnTo>
                  <a:lnTo>
                    <a:pt x="243840" y="487680"/>
                  </a:lnTo>
                  <a:close/>
                </a:path>
              </a:pathLst>
            </a:custGeom>
            <a:solidFill>
              <a:srgbClr val="343434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0881360" y="6355080"/>
            <a:ext cx="2743200" cy="1600200"/>
            <a:chOff x="0" y="0"/>
            <a:chExt cx="3657600" cy="21336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657600" cy="2133600"/>
            </a:xfrm>
            <a:custGeom>
              <a:avLst/>
              <a:gdLst/>
              <a:ahLst/>
              <a:cxnLst/>
              <a:rect r="r" b="b" t="t" l="l"/>
              <a:pathLst>
                <a:path h="213360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133600"/>
                  </a:lnTo>
                  <a:lnTo>
                    <a:pt x="0" y="2133600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9525"/>
              <a:ext cx="3657600" cy="2143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7  Tune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FFFFFF"/>
                  </a:solidFill>
                  <a:latin typeface="TT Hoves"/>
                  <a:ea typeface="TT Hoves"/>
                  <a:cs typeface="TT Hoves"/>
                  <a:sym typeface="TT Hoves"/>
                </a:rPr>
                <a:t>5-fold GroupKFold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3716000" y="6972300"/>
            <a:ext cx="365760" cy="365760"/>
            <a:chOff x="0" y="0"/>
            <a:chExt cx="487680" cy="48768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87680" cy="487680"/>
            </a:xfrm>
            <a:custGeom>
              <a:avLst/>
              <a:gdLst/>
              <a:ahLst/>
              <a:cxnLst/>
              <a:rect r="r" b="b" t="t" l="l"/>
              <a:pathLst>
                <a:path h="487680" w="487680">
                  <a:moveTo>
                    <a:pt x="0" y="243840"/>
                  </a:moveTo>
                  <a:lnTo>
                    <a:pt x="243840" y="0"/>
                  </a:lnTo>
                  <a:lnTo>
                    <a:pt x="243840" y="121920"/>
                  </a:lnTo>
                  <a:lnTo>
                    <a:pt x="487680" y="121920"/>
                  </a:lnTo>
                  <a:lnTo>
                    <a:pt x="487680" y="365760"/>
                  </a:lnTo>
                  <a:lnTo>
                    <a:pt x="243840" y="365760"/>
                  </a:lnTo>
                  <a:lnTo>
                    <a:pt x="243840" y="487680"/>
                  </a:lnTo>
                  <a:close/>
                </a:path>
              </a:pathLst>
            </a:custGeom>
            <a:solidFill>
              <a:srgbClr val="343434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4173200" y="6355080"/>
            <a:ext cx="2743200" cy="1600200"/>
            <a:chOff x="0" y="0"/>
            <a:chExt cx="3657600" cy="21336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3657600" cy="2133600"/>
            </a:xfrm>
            <a:custGeom>
              <a:avLst/>
              <a:gdLst/>
              <a:ahLst/>
              <a:cxnLst/>
              <a:rect r="r" b="b" t="t" l="l"/>
              <a:pathLst>
                <a:path h="213360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133600"/>
                  </a:lnTo>
                  <a:lnTo>
                    <a:pt x="0" y="2133600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9525"/>
              <a:ext cx="3657600" cy="2143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6  Train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FFFFFF"/>
                  </a:solidFill>
                  <a:latin typeface="TT Hoves"/>
                  <a:ea typeface="TT Hoves"/>
                  <a:cs typeface="TT Hoves"/>
                  <a:sym typeface="TT Hoves"/>
                </a:rPr>
                <a:t>4 models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5361920" y="5577840"/>
            <a:ext cx="365760" cy="640080"/>
            <a:chOff x="0" y="0"/>
            <a:chExt cx="487680" cy="8534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487680" cy="853440"/>
            </a:xfrm>
            <a:custGeom>
              <a:avLst/>
              <a:gdLst/>
              <a:ahLst/>
              <a:cxnLst/>
              <a:rect r="r" b="b" t="t" l="l"/>
              <a:pathLst>
                <a:path h="853440" w="487680">
                  <a:moveTo>
                    <a:pt x="0" y="609600"/>
                  </a:moveTo>
                  <a:lnTo>
                    <a:pt x="121920" y="609600"/>
                  </a:lnTo>
                  <a:lnTo>
                    <a:pt x="121920" y="0"/>
                  </a:lnTo>
                  <a:lnTo>
                    <a:pt x="365760" y="0"/>
                  </a:lnTo>
                  <a:lnTo>
                    <a:pt x="365760" y="609600"/>
                  </a:lnTo>
                  <a:lnTo>
                    <a:pt x="487680" y="609600"/>
                  </a:lnTo>
                  <a:lnTo>
                    <a:pt x="243840" y="853440"/>
                  </a:lnTo>
                  <a:close/>
                </a:path>
              </a:pathLst>
            </a:custGeom>
            <a:solidFill>
              <a:srgbClr val="343434"/>
            </a:solidFill>
          </p:spPr>
        </p:sp>
      </p:grpSp>
      <p:sp>
        <p:nvSpPr>
          <p:cNvPr name="TextBox 59" id="59"/>
          <p:cNvSpPr txBox="true"/>
          <p:nvPr/>
        </p:nvSpPr>
        <p:spPr>
          <a:xfrm rot="0">
            <a:off x="1097280" y="9052560"/>
            <a:ext cx="16093440" cy="640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Every stage saves its output, so any stage can be rerun alone. python run_pipeline.py --quick reproduces all stages on a sample in about 10 minutes.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672059" y="922249"/>
            <a:ext cx="5587241" cy="2765965"/>
          </a:xfrm>
          <a:custGeom>
            <a:avLst/>
            <a:gdLst/>
            <a:ahLst/>
            <a:cxnLst/>
            <a:rect r="r" b="b" t="t" l="l"/>
            <a:pathLst>
              <a:path h="2765965" w="5587241">
                <a:moveTo>
                  <a:pt x="0" y="0"/>
                </a:moveTo>
                <a:lnTo>
                  <a:pt x="5587241" y="0"/>
                </a:lnTo>
                <a:lnTo>
                  <a:pt x="5587241" y="2765964"/>
                </a:lnTo>
                <a:lnTo>
                  <a:pt x="0" y="276596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102109" y="7468605"/>
            <a:ext cx="6393151" cy="3315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363"/>
              </a:lnSpc>
            </a:pPr>
            <a:r>
              <a:rPr lang="en-US" b="true" sz="32301" spc="-1581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06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1672059" y="3705587"/>
            <a:ext cx="5587241" cy="2765965"/>
          </a:xfrm>
          <a:custGeom>
            <a:avLst/>
            <a:gdLst/>
            <a:ahLst/>
            <a:cxnLst/>
            <a:rect r="r" b="b" t="t" l="l"/>
            <a:pathLst>
              <a:path h="2765965" w="5587241">
                <a:moveTo>
                  <a:pt x="0" y="0"/>
                </a:moveTo>
                <a:lnTo>
                  <a:pt x="5587241" y="0"/>
                </a:lnTo>
                <a:lnTo>
                  <a:pt x="5587241" y="2765965"/>
                </a:lnTo>
                <a:lnTo>
                  <a:pt x="0" y="276596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672059" y="6492335"/>
            <a:ext cx="5587241" cy="2765965"/>
          </a:xfrm>
          <a:custGeom>
            <a:avLst/>
            <a:gdLst/>
            <a:ahLst/>
            <a:cxnLst/>
            <a:rect r="r" b="b" t="t" l="l"/>
            <a:pathLst>
              <a:path h="2765965" w="5587241">
                <a:moveTo>
                  <a:pt x="0" y="0"/>
                </a:moveTo>
                <a:lnTo>
                  <a:pt x="5587241" y="0"/>
                </a:lnTo>
                <a:lnTo>
                  <a:pt x="5587241" y="2765965"/>
                </a:lnTo>
                <a:lnTo>
                  <a:pt x="0" y="276596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3126791" y="-2986202"/>
            <a:ext cx="9584988" cy="9584988"/>
          </a:xfrm>
          <a:custGeom>
            <a:avLst/>
            <a:gdLst/>
            <a:ahLst/>
            <a:cxnLst/>
            <a:rect r="r" b="b" t="t" l="l"/>
            <a:pathLst>
              <a:path h="9584988" w="9584988">
                <a:moveTo>
                  <a:pt x="0" y="0"/>
                </a:moveTo>
                <a:lnTo>
                  <a:pt x="9584989" y="0"/>
                </a:lnTo>
                <a:lnTo>
                  <a:pt x="9584989" y="9584989"/>
                </a:lnTo>
                <a:lnTo>
                  <a:pt x="0" y="95849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2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28700" y="925659"/>
            <a:ext cx="5587241" cy="2765965"/>
          </a:xfrm>
          <a:custGeom>
            <a:avLst/>
            <a:gdLst/>
            <a:ahLst/>
            <a:cxnLst/>
            <a:rect r="r" b="b" t="t" l="l"/>
            <a:pathLst>
              <a:path h="2765965" w="5587241">
                <a:moveTo>
                  <a:pt x="0" y="0"/>
                </a:moveTo>
                <a:lnTo>
                  <a:pt x="5587241" y="0"/>
                </a:lnTo>
                <a:lnTo>
                  <a:pt x="5587241" y="2765964"/>
                </a:lnTo>
                <a:lnTo>
                  <a:pt x="0" y="276596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028700" y="3708997"/>
            <a:ext cx="5587241" cy="2765965"/>
          </a:xfrm>
          <a:custGeom>
            <a:avLst/>
            <a:gdLst/>
            <a:ahLst/>
            <a:cxnLst/>
            <a:rect r="r" b="b" t="t" l="l"/>
            <a:pathLst>
              <a:path h="2765965" w="5587241">
                <a:moveTo>
                  <a:pt x="0" y="0"/>
                </a:moveTo>
                <a:lnTo>
                  <a:pt x="5587241" y="0"/>
                </a:lnTo>
                <a:lnTo>
                  <a:pt x="5587241" y="2765965"/>
                </a:lnTo>
                <a:lnTo>
                  <a:pt x="0" y="276596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28700" y="6495745"/>
            <a:ext cx="5587241" cy="2765965"/>
          </a:xfrm>
          <a:custGeom>
            <a:avLst/>
            <a:gdLst/>
            <a:ahLst/>
            <a:cxnLst/>
            <a:rect r="r" b="b" t="t" l="l"/>
            <a:pathLst>
              <a:path h="2765965" w="5587241">
                <a:moveTo>
                  <a:pt x="0" y="0"/>
                </a:moveTo>
                <a:lnTo>
                  <a:pt x="5587241" y="0"/>
                </a:lnTo>
                <a:lnTo>
                  <a:pt x="5587241" y="2765965"/>
                </a:lnTo>
                <a:lnTo>
                  <a:pt x="0" y="276596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7900080">
            <a:off x="7348623" y="2133028"/>
            <a:ext cx="1012984" cy="454924"/>
          </a:xfrm>
          <a:custGeom>
            <a:avLst/>
            <a:gdLst/>
            <a:ahLst/>
            <a:cxnLst/>
            <a:rect r="r" b="b" t="t" l="l"/>
            <a:pathLst>
              <a:path h="454924" w="1012984">
                <a:moveTo>
                  <a:pt x="0" y="0"/>
                </a:moveTo>
                <a:lnTo>
                  <a:pt x="1012984" y="0"/>
                </a:lnTo>
                <a:lnTo>
                  <a:pt x="1012984" y="454924"/>
                </a:lnTo>
                <a:lnTo>
                  <a:pt x="0" y="4549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-986" r="0" b="-984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2700000">
            <a:off x="10017119" y="2144497"/>
            <a:ext cx="1012984" cy="454924"/>
          </a:xfrm>
          <a:custGeom>
            <a:avLst/>
            <a:gdLst/>
            <a:ahLst/>
            <a:cxnLst/>
            <a:rect r="r" b="b" t="t" l="l"/>
            <a:pathLst>
              <a:path h="454924" w="1012984">
                <a:moveTo>
                  <a:pt x="0" y="0"/>
                </a:moveTo>
                <a:lnTo>
                  <a:pt x="1012983" y="0"/>
                </a:lnTo>
                <a:lnTo>
                  <a:pt x="1012983" y="454923"/>
                </a:lnTo>
                <a:lnTo>
                  <a:pt x="0" y="45492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-986" r="0" b="-984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3210000">
            <a:off x="9982257" y="7689590"/>
            <a:ext cx="1012984" cy="454924"/>
          </a:xfrm>
          <a:custGeom>
            <a:avLst/>
            <a:gdLst/>
            <a:ahLst/>
            <a:cxnLst/>
            <a:rect r="r" b="b" t="t" l="l"/>
            <a:pathLst>
              <a:path h="454924" w="1012984">
                <a:moveTo>
                  <a:pt x="0" y="0"/>
                </a:moveTo>
                <a:lnTo>
                  <a:pt x="1012984" y="0"/>
                </a:lnTo>
                <a:lnTo>
                  <a:pt x="1012984" y="454923"/>
                </a:lnTo>
                <a:lnTo>
                  <a:pt x="0" y="45492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-986" r="0" b="-984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7866360">
            <a:off x="7243305" y="7665453"/>
            <a:ext cx="1012984" cy="454924"/>
          </a:xfrm>
          <a:custGeom>
            <a:avLst/>
            <a:gdLst/>
            <a:ahLst/>
            <a:cxnLst/>
            <a:rect r="r" b="b" t="t" l="l"/>
            <a:pathLst>
              <a:path h="454924" w="1012984">
                <a:moveTo>
                  <a:pt x="0" y="0"/>
                </a:moveTo>
                <a:lnTo>
                  <a:pt x="1012984" y="0"/>
                </a:lnTo>
                <a:lnTo>
                  <a:pt x="1012984" y="454924"/>
                </a:lnTo>
                <a:lnTo>
                  <a:pt x="0" y="4549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-986" r="0" b="-984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4101839" y="1471051"/>
            <a:ext cx="2816628" cy="1695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6"/>
              </a:lnSpc>
            </a:pPr>
            <a:r>
              <a:rPr lang="en-US" sz="1299" b="true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DistilBERT</a:t>
            </a:r>
            <a:r>
              <a:rPr lang="en-US" sz="1299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 fine-tuned for 2 epochs. Most powerful, but a black box: kept for comparison.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101839" y="4257799"/>
            <a:ext cx="2816628" cy="1695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6"/>
              </a:lnSpc>
            </a:pPr>
            <a:r>
              <a:rPr lang="en-US" sz="1299" b="true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Verdict</a:t>
            </a:r>
            <a:r>
              <a:rPr lang="en-US" sz="1299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 = mean of XGBoost and TF-IDF + LR, chosen on validation. Unclear band: 35 to 65%.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101839" y="7007219"/>
            <a:ext cx="2816628" cy="1695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6"/>
              </a:lnSpc>
            </a:pPr>
            <a:r>
              <a:rPr lang="en-US" sz="1299" b="true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Evaluation:</a:t>
            </a:r>
            <a:r>
              <a:rPr lang="en-US" sz="1299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 test set used once, MAGE for unseen generators, a T5 paraphrase attack.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458470" y="1471051"/>
            <a:ext cx="2816628" cy="1695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6"/>
              </a:lnSpc>
            </a:pPr>
            <a:r>
              <a:rPr lang="en-US" sz="1299" b="true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Perplexity threshold</a:t>
            </a:r>
            <a:r>
              <a:rPr lang="en-US" sz="1299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 on GPT-2 log perplexity alone; cut-off chosen on validation. Zero-shot baseline.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458470" y="4254398"/>
            <a:ext cx="2816628" cy="1695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6"/>
              </a:lnSpc>
            </a:pPr>
            <a:r>
              <a:rPr lang="en-US" sz="1299" b="true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TF-IDF + logistic regression</a:t>
            </a:r>
            <a:r>
              <a:rPr lang="en-US" sz="1299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 on 1-2 word features; C tuned by 5-fold GroupKFold. Glass box on words.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458470" y="7031355"/>
            <a:ext cx="2816628" cy="1695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6"/>
              </a:lnSpc>
            </a:pPr>
            <a:r>
              <a:rPr lang="en-US" sz="1299" b="true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XGBoost</a:t>
            </a:r>
            <a:r>
              <a:rPr lang="en-US" sz="1299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 on the 18 features, monotone constraints where theory and data agree. Explained with SHAP.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995246" y="4066727"/>
            <a:ext cx="4297509" cy="1852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760"/>
              </a:lnSpc>
            </a:pPr>
            <a:r>
              <a:rPr lang="en-US" sz="8000" b="true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Four models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362368" y="6197832"/>
            <a:ext cx="3563274" cy="358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2"/>
              </a:lnSpc>
            </a:pPr>
            <a:r>
              <a:rPr lang="en-US" sz="290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and one verdict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509693" y="2102167"/>
            <a:ext cx="1786852" cy="10920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57"/>
              </a:lnSpc>
            </a:pPr>
            <a:r>
              <a:rPr lang="en-US" b="true" sz="10806" spc="-529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01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509693" y="4827622"/>
            <a:ext cx="2628852" cy="10920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57"/>
              </a:lnSpc>
            </a:pPr>
            <a:r>
              <a:rPr lang="en-US" b="true" sz="10806" spc="-529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02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509693" y="7608437"/>
            <a:ext cx="2628852" cy="10920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57"/>
              </a:lnSpc>
            </a:pPr>
            <a:r>
              <a:rPr lang="en-US" b="true" sz="10806" spc="-529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03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102379" y="2074488"/>
            <a:ext cx="1999459" cy="10920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57"/>
              </a:lnSpc>
            </a:pPr>
            <a:r>
              <a:rPr lang="en-US" b="true" sz="10806" spc="-529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04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102379" y="4799943"/>
            <a:ext cx="2628852" cy="10920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57"/>
              </a:lnSpc>
            </a:pPr>
            <a:r>
              <a:rPr lang="en-US" b="true" sz="10806" spc="-529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05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102379" y="7580757"/>
            <a:ext cx="2628852" cy="10920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57"/>
              </a:lnSpc>
            </a:pPr>
            <a:r>
              <a:rPr lang="en-US" b="true" sz="10806" spc="-529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06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430067" y="1936909"/>
            <a:ext cx="11221860" cy="11221860"/>
          </a:xfrm>
          <a:custGeom>
            <a:avLst/>
            <a:gdLst/>
            <a:ahLst/>
            <a:cxnLst/>
            <a:rect r="r" b="b" t="t" l="l"/>
            <a:pathLst>
              <a:path h="11221860" w="11221860">
                <a:moveTo>
                  <a:pt x="0" y="0"/>
                </a:moveTo>
                <a:lnTo>
                  <a:pt x="11221860" y="0"/>
                </a:lnTo>
                <a:lnTo>
                  <a:pt x="11221860" y="11221859"/>
                </a:lnTo>
                <a:lnTo>
                  <a:pt x="0" y="1122185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2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96258" y="-667522"/>
            <a:ext cx="19680517" cy="1921478"/>
          </a:xfrm>
          <a:custGeom>
            <a:avLst/>
            <a:gdLst/>
            <a:ahLst/>
            <a:cxnLst/>
            <a:rect r="r" b="b" t="t" l="l"/>
            <a:pathLst>
              <a:path h="1921478" w="19680517">
                <a:moveTo>
                  <a:pt x="0" y="0"/>
                </a:moveTo>
                <a:lnTo>
                  <a:pt x="19680516" y="0"/>
                </a:lnTo>
                <a:lnTo>
                  <a:pt x="19680516" y="1921479"/>
                </a:lnTo>
                <a:lnTo>
                  <a:pt x="0" y="19214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4141977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SIT Pune 2026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GlassQuill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585339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Case Study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484590" y="287417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330760" y="287417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05840" y="1758315"/>
            <a:ext cx="16276320" cy="10306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6600" spc="-150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Implementation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1560" y="2861310"/>
            <a:ext cx="16276320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4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Complete, tested and reproducible: code, pipeline and a working web app</a:t>
            </a:r>
          </a:p>
        </p:txBody>
      </p:sp>
      <p:graphicFrame>
        <p:nvGraphicFramePr>
          <p:cNvPr name="Table 11" id="11"/>
          <p:cNvGraphicFramePr>
            <a:graphicFrameLocks noGrp="true"/>
          </p:cNvGraphicFramePr>
          <p:nvPr/>
        </p:nvGraphicFramePr>
        <p:xfrm>
          <a:off x="1005840" y="3840480"/>
          <a:ext cx="8128000" cy="3911600"/>
        </p:xfrm>
        <a:graphic>
          <a:graphicData uri="http://schemas.openxmlformats.org/drawingml/2006/table">
            <a:tbl>
              <a:tblPr/>
              <a:tblGrid>
                <a:gridCol w="2009169"/>
                <a:gridCol w="3196404"/>
                <a:gridCol w="2922427"/>
              </a:tblGrid>
              <a:tr h="5588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Layer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Tools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Code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</a:tr>
              <a:tr h="5588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Data, features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pandas, GPT-2, textstat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src/data.py, features.py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Models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scikit-learn, XGBoost, DistilBERT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src/models.py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588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Explanations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SHAP, LIME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src/explain.py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Pipeline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8 cached stages, seed 42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run_pipeline.py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588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Web app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FastAPI + React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server.py, web/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Quality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28 tests, lint, types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tests/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grpSp>
        <p:nvGrpSpPr>
          <p:cNvPr name="Group 12" id="12"/>
          <p:cNvGrpSpPr/>
          <p:nvPr/>
        </p:nvGrpSpPr>
        <p:grpSpPr>
          <a:xfrm rot="0">
            <a:off x="9326880" y="3794760"/>
            <a:ext cx="8046720" cy="3576323"/>
            <a:chOff x="0" y="0"/>
            <a:chExt cx="10728960" cy="4768431"/>
          </a:xfrm>
        </p:grpSpPr>
        <p:sp>
          <p:nvSpPr>
            <p:cNvPr name="Freeform 13" id="13" descr="detect_verdict.png"/>
            <p:cNvSpPr/>
            <p:nvPr/>
          </p:nvSpPr>
          <p:spPr>
            <a:xfrm flipH="false" flipV="false" rot="0">
              <a:off x="0" y="0"/>
              <a:ext cx="10728960" cy="4768469"/>
            </a:xfrm>
            <a:custGeom>
              <a:avLst/>
              <a:gdLst/>
              <a:ahLst/>
              <a:cxnLst/>
              <a:rect r="r" b="b" t="t" l="l"/>
              <a:pathLst>
                <a:path h="4768469" w="10728960">
                  <a:moveTo>
                    <a:pt x="0" y="0"/>
                  </a:moveTo>
                  <a:lnTo>
                    <a:pt x="10728960" y="0"/>
                  </a:lnTo>
                  <a:lnTo>
                    <a:pt x="10728960" y="4768469"/>
                  </a:lnTo>
                  <a:lnTo>
                    <a:pt x="0" y="47684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418320" y="7498080"/>
            <a:ext cx="786384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The detector page: verdict, both model scores and the evidence below it.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97280" y="8046720"/>
            <a:ext cx="7955280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Python 3.11, PyTorch 2.11 on an RTX 3050 laptop GPU. Full run about 1.5 h; the app answers in about 0.1 s per text.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126791" y="-2986202"/>
            <a:ext cx="7624734" cy="7624734"/>
          </a:xfrm>
          <a:custGeom>
            <a:avLst/>
            <a:gdLst/>
            <a:ahLst/>
            <a:cxnLst/>
            <a:rect r="r" b="b" t="t" l="l"/>
            <a:pathLst>
              <a:path h="7624734" w="7624734">
                <a:moveTo>
                  <a:pt x="0" y="0"/>
                </a:moveTo>
                <a:lnTo>
                  <a:pt x="7624734" y="0"/>
                </a:lnTo>
                <a:lnTo>
                  <a:pt x="7624734" y="7624734"/>
                </a:lnTo>
                <a:lnTo>
                  <a:pt x="0" y="76247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2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85912" y="4412466"/>
            <a:ext cx="10014899" cy="756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789"/>
              </a:lnSpc>
            </a:pPr>
            <a:r>
              <a:rPr lang="en-US" b="true" sz="6998" spc="-335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Test accuracy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71342" y="5426250"/>
            <a:ext cx="7615180" cy="1125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99"/>
              </a:lnSpc>
            </a:pPr>
            <a:r>
              <a:rPr lang="en-US" sz="1998" spc="118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On 4,829 unseen test texts the verdict beats every single model and wrongly flags only 2.0% of human texts.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71342" y="1993897"/>
            <a:ext cx="7315067" cy="21137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952"/>
              </a:lnSpc>
            </a:pPr>
            <a:r>
              <a:rPr lang="en-US" b="true" sz="19538" spc="-937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97.4%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1109608" y="-883472"/>
            <a:ext cx="7178392" cy="12095883"/>
          </a:xfrm>
          <a:custGeom>
            <a:avLst/>
            <a:gdLst/>
            <a:ahLst/>
            <a:cxnLst/>
            <a:rect r="r" b="b" t="t" l="l"/>
            <a:pathLst>
              <a:path h="12095883" w="7178392">
                <a:moveTo>
                  <a:pt x="0" y="0"/>
                </a:moveTo>
                <a:lnTo>
                  <a:pt x="7178392" y="0"/>
                </a:lnTo>
                <a:lnTo>
                  <a:pt x="7178392" y="12095883"/>
                </a:lnTo>
                <a:lnTo>
                  <a:pt x="0" y="12095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-5400000">
            <a:off x="15931105" y="8125473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GlassQuill</a:t>
            </a:r>
          </a:p>
        </p:txBody>
      </p:sp>
      <p:sp>
        <p:nvSpPr>
          <p:cNvPr name="TextBox 8" id="8"/>
          <p:cNvSpPr txBox="true"/>
          <p:nvPr/>
        </p:nvSpPr>
        <p:spPr>
          <a:xfrm rot="-5400000">
            <a:off x="15931105" y="235764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SIT Pune 2026</a:t>
            </a:r>
          </a:p>
        </p:txBody>
      </p:sp>
      <p:sp>
        <p:nvSpPr>
          <p:cNvPr name="TextBox 9" id="9"/>
          <p:cNvSpPr txBox="true"/>
          <p:nvPr/>
        </p:nvSpPr>
        <p:spPr>
          <a:xfrm rot="-5400000">
            <a:off x="16786641" y="5241560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080136" y="7130872"/>
            <a:ext cx="6265088" cy="3899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3"/>
              </a:lnSpc>
            </a:pPr>
            <a:r>
              <a:rPr lang="en-US" b="true" sz="37887" spc="-1855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07</a:t>
            </a:r>
          </a:p>
        </p:txBody>
      </p:sp>
      <p:graphicFrame>
        <p:nvGraphicFramePr>
          <p:cNvPr name="Table 11" id="11"/>
          <p:cNvGraphicFramePr>
            <a:graphicFrameLocks noGrp="true"/>
          </p:cNvGraphicFramePr>
          <p:nvPr/>
        </p:nvGraphicFramePr>
        <p:xfrm>
          <a:off x="1645920" y="6720840"/>
          <a:ext cx="8547100" cy="2743200"/>
        </p:xfrm>
        <a:graphic>
          <a:graphicData uri="http://schemas.openxmlformats.org/drawingml/2006/table">
            <a:tbl>
              <a:tblPr/>
              <a:tblGrid>
                <a:gridCol w="2818724"/>
                <a:gridCol w="1145675"/>
                <a:gridCol w="1145675"/>
                <a:gridCol w="1145675"/>
                <a:gridCol w="1145675"/>
                <a:gridCol w="1145675"/>
              </a:tblGrid>
              <a:tr h="4572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Model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Acc.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Prec.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Recall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F1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FPR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</a:tr>
              <a:tr h="4572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0003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GlassQuill verdict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0003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97.4%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0003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0.980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0003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0.968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0003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0.974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0003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2.0%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DistilBERT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96.1%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0.934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0.993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0.963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7.1%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TF-IDF + LR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95.9%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0.970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0.948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0.959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3.0%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XGBoost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92.3%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0.933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0.912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0.923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6.6%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Perplexity threshold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83.9%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0.892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0.771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0.827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9.3%</a:t>
                      </a:r>
                      <a:endParaRPr lang="en-US" sz="1100"/>
                    </a:p>
                  </a:txBody>
                  <a:tcPr marL="109728" marR="109728" marT="109728" marB="109728" anchor="t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name="Group 12" id="12"/>
          <p:cNvGrpSpPr/>
          <p:nvPr/>
        </p:nvGrpSpPr>
        <p:grpSpPr>
          <a:xfrm rot="0">
            <a:off x="11612880" y="914400"/>
            <a:ext cx="4206240" cy="3505200"/>
            <a:chOff x="0" y="0"/>
            <a:chExt cx="5608320" cy="4673600"/>
          </a:xfrm>
        </p:grpSpPr>
        <p:sp>
          <p:nvSpPr>
            <p:cNvPr name="Freeform 13" id="13" descr="roc_curves.png"/>
            <p:cNvSpPr/>
            <p:nvPr/>
          </p:nvSpPr>
          <p:spPr>
            <a:xfrm flipH="false" flipV="false" rot="0">
              <a:off x="0" y="0"/>
              <a:ext cx="5608320" cy="4673600"/>
            </a:xfrm>
            <a:custGeom>
              <a:avLst/>
              <a:gdLst/>
              <a:ahLst/>
              <a:cxnLst/>
              <a:rect r="r" b="b" t="t" l="l"/>
              <a:pathLst>
                <a:path h="4673600" w="5608320">
                  <a:moveTo>
                    <a:pt x="0" y="0"/>
                  </a:moveTo>
                  <a:lnTo>
                    <a:pt x="5608320" y="0"/>
                  </a:lnTo>
                  <a:lnTo>
                    <a:pt x="5608320" y="4673600"/>
                  </a:lnTo>
                  <a:lnTo>
                    <a:pt x="0" y="4673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430067" y="1936909"/>
            <a:ext cx="11221860" cy="11221860"/>
          </a:xfrm>
          <a:custGeom>
            <a:avLst/>
            <a:gdLst/>
            <a:ahLst/>
            <a:cxnLst/>
            <a:rect r="r" b="b" t="t" l="l"/>
            <a:pathLst>
              <a:path h="11221860" w="11221860">
                <a:moveTo>
                  <a:pt x="0" y="0"/>
                </a:moveTo>
                <a:lnTo>
                  <a:pt x="11221860" y="0"/>
                </a:lnTo>
                <a:lnTo>
                  <a:pt x="11221860" y="11221859"/>
                </a:lnTo>
                <a:lnTo>
                  <a:pt x="0" y="1122185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2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96258" y="-667522"/>
            <a:ext cx="19680517" cy="1921478"/>
          </a:xfrm>
          <a:custGeom>
            <a:avLst/>
            <a:gdLst/>
            <a:ahLst/>
            <a:cxnLst/>
            <a:rect r="r" b="b" t="t" l="l"/>
            <a:pathLst>
              <a:path h="1921478" w="19680517">
                <a:moveTo>
                  <a:pt x="0" y="0"/>
                </a:moveTo>
                <a:lnTo>
                  <a:pt x="19680516" y="0"/>
                </a:lnTo>
                <a:lnTo>
                  <a:pt x="19680516" y="1921479"/>
                </a:lnTo>
                <a:lnTo>
                  <a:pt x="0" y="19214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4141977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SIT Pune 2026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GlassQuill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585339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Case Study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484590" y="287417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330760" y="287417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05840" y="1758315"/>
            <a:ext cx="16276320" cy="10306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6600" spc="-150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Comparative analysis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1560" y="2861310"/>
            <a:ext cx="16276320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4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Same metrics for every model, in-domain, on unseen generators and under attack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05840" y="3611880"/>
            <a:ext cx="16276320" cy="3255264"/>
            <a:chOff x="0" y="0"/>
            <a:chExt cx="21701760" cy="4340352"/>
          </a:xfrm>
        </p:grpSpPr>
        <p:sp>
          <p:nvSpPr>
            <p:cNvPr name="Freeform 12" id="12" descr="confusion_matrices.png"/>
            <p:cNvSpPr/>
            <p:nvPr/>
          </p:nvSpPr>
          <p:spPr>
            <a:xfrm flipH="false" flipV="false" rot="0">
              <a:off x="0" y="0"/>
              <a:ext cx="21701761" cy="4340352"/>
            </a:xfrm>
            <a:custGeom>
              <a:avLst/>
              <a:gdLst/>
              <a:ahLst/>
              <a:cxnLst/>
              <a:rect r="r" b="b" t="t" l="l"/>
              <a:pathLst>
                <a:path h="4340352" w="21701761">
                  <a:moveTo>
                    <a:pt x="0" y="0"/>
                  </a:moveTo>
                  <a:lnTo>
                    <a:pt x="21701761" y="0"/>
                  </a:lnTo>
                  <a:lnTo>
                    <a:pt x="21701761" y="4340352"/>
                  </a:lnTo>
                  <a:lnTo>
                    <a:pt x="0" y="4340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aphicFrame>
        <p:nvGraphicFramePr>
          <p:cNvPr name="Table 13" id="13"/>
          <p:cNvGraphicFramePr>
            <a:graphicFrameLocks noGrp="true"/>
          </p:cNvGraphicFramePr>
          <p:nvPr/>
        </p:nvGraphicFramePr>
        <p:xfrm>
          <a:off x="1005840" y="7086600"/>
          <a:ext cx="7734300" cy="2438400"/>
        </p:xfrm>
        <a:graphic>
          <a:graphicData uri="http://schemas.openxmlformats.org/drawingml/2006/table">
            <a:tbl>
              <a:tblPr/>
              <a:tblGrid>
                <a:gridCol w="3912646"/>
                <a:gridCol w="1273885"/>
                <a:gridCol w="1273885"/>
                <a:gridCol w="1273885"/>
              </a:tblGrid>
              <a:tr h="406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MAGE (27 unseen generators)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Acc.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F1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FPR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</a:tr>
              <a:tr h="406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0003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GlassQuill verdict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0003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66.4%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0003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0.542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0003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6.8%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Perplexity threshold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65.6%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0.551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11.1%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06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DistilBERT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65.5%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0.585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17.6%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XGBoost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63.4%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0.532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14.9%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06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TF-IDF + LR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60.6%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0.426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7.9%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name="Table 14" id="14"/>
          <p:cNvGraphicFramePr>
            <a:graphicFrameLocks noGrp="true"/>
          </p:cNvGraphicFramePr>
          <p:nvPr/>
        </p:nvGraphicFramePr>
        <p:xfrm>
          <a:off x="9418320" y="7086600"/>
          <a:ext cx="7861300" cy="2438400"/>
        </p:xfrm>
        <a:graphic>
          <a:graphicData uri="http://schemas.openxmlformats.org/drawingml/2006/table">
            <a:tbl>
              <a:tblPr/>
              <a:tblGrid>
                <a:gridCol w="4204881"/>
                <a:gridCol w="1828209"/>
                <a:gridCol w="1828209"/>
              </a:tblGrid>
              <a:tr h="406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Paraphrase attack (recall)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Before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FFFF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After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3FF"/>
                    </a:solidFill>
                  </a:tcPr>
                </a:tc>
              </a:tr>
              <a:tr h="406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0003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GlassQuill verdict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0003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98%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 b="true">
                          <a:solidFill>
                            <a:srgbClr val="0003FF"/>
                          </a:solidFill>
                          <a:latin typeface="TT Hoves Bold"/>
                          <a:ea typeface="TT Hoves Bold"/>
                          <a:cs typeface="TT Hoves Bold"/>
                          <a:sym typeface="TT Hoves Bold"/>
                        </a:rPr>
                        <a:t>93%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DistilBERT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100%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100%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06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XGBoost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100%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95%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Perplexity threshold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100%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93%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06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TF-IDF + LR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93%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>
                        <a:lnSpc>
                          <a:spcPts val="1800"/>
                        </a:lnSpc>
                        <a:defRPr/>
                      </a:pPr>
                      <a:r>
                        <a:rPr lang="en-US" sz="1500">
                          <a:solidFill>
                            <a:srgbClr val="343434"/>
                          </a:solidFill>
                          <a:latin typeface="TT Hoves"/>
                          <a:ea typeface="TT Hoves"/>
                          <a:cs typeface="TT Hoves"/>
                          <a:sym typeface="TT Hoves"/>
                        </a:rPr>
                        <a:t>77%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303047" y="4650276"/>
            <a:ext cx="8395745" cy="4126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39"/>
              </a:lnSpc>
            </a:pPr>
            <a:r>
              <a:rPr lang="en-US" sz="2399" spc="143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SHAP shows how much each of the 18 signals moved the style model; low perplexity pushes hardest towards AI. The word model's weights are exact, so every word is coloured towards human or AI.</a:t>
            </a:r>
          </a:p>
          <a:p>
            <a:pPr algn="just">
              <a:lnSpc>
                <a:spcPts val="3239"/>
              </a:lnSpc>
            </a:pPr>
          </a:p>
          <a:p>
            <a:pPr algn="just">
              <a:lnSpc>
                <a:spcPts val="3239"/>
              </a:lnSpc>
            </a:pPr>
            <a:r>
              <a:rPr lang="en-US" sz="2399" spc="143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The same view, live in the app: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-696258" y="-1193130"/>
            <a:ext cx="7178392" cy="12095883"/>
          </a:xfrm>
          <a:custGeom>
            <a:avLst/>
            <a:gdLst/>
            <a:ahLst/>
            <a:cxnLst/>
            <a:rect r="r" b="b" t="t" l="l"/>
            <a:pathLst>
              <a:path h="12095883" w="7178392">
                <a:moveTo>
                  <a:pt x="0" y="0"/>
                </a:moveTo>
                <a:lnTo>
                  <a:pt x="7178392" y="0"/>
                </a:lnTo>
                <a:lnTo>
                  <a:pt x="7178392" y="12095883"/>
                </a:lnTo>
                <a:lnTo>
                  <a:pt x="0" y="1209588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263801" y="-4131631"/>
            <a:ext cx="7990999" cy="7990999"/>
          </a:xfrm>
          <a:custGeom>
            <a:avLst/>
            <a:gdLst/>
            <a:ahLst/>
            <a:cxnLst/>
            <a:rect r="r" b="b" t="t" l="l"/>
            <a:pathLst>
              <a:path h="7990999" w="7990999">
                <a:moveTo>
                  <a:pt x="0" y="0"/>
                </a:moveTo>
                <a:lnTo>
                  <a:pt x="7990998" y="0"/>
                </a:lnTo>
                <a:lnTo>
                  <a:pt x="7990998" y="7990999"/>
                </a:lnTo>
                <a:lnTo>
                  <a:pt x="0" y="799099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52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8126263" y="1712281"/>
            <a:ext cx="9760572" cy="2740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44"/>
              </a:lnSpc>
            </a:pPr>
            <a:r>
              <a:rPr lang="en-US" b="true" sz="12387" spc="-606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Showing the evidence</a:t>
            </a:r>
          </a:p>
        </p:txBody>
      </p:sp>
      <p:sp>
        <p:nvSpPr>
          <p:cNvPr name="TextBox 6" id="6"/>
          <p:cNvSpPr txBox="true"/>
          <p:nvPr/>
        </p:nvSpPr>
        <p:spPr>
          <a:xfrm rot="-5400000">
            <a:off x="4125239" y="7815805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GlassQuill</a:t>
            </a:r>
          </a:p>
        </p:txBody>
      </p:sp>
      <p:sp>
        <p:nvSpPr>
          <p:cNvPr name="TextBox 7" id="7"/>
          <p:cNvSpPr txBox="true"/>
          <p:nvPr/>
        </p:nvSpPr>
        <p:spPr>
          <a:xfrm rot="-5400000">
            <a:off x="4125239" y="2047980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SIT Pune 2026</a:t>
            </a:r>
          </a:p>
        </p:txBody>
      </p:sp>
      <p:sp>
        <p:nvSpPr>
          <p:cNvPr name="TextBox 8" id="8"/>
          <p:cNvSpPr txBox="true"/>
          <p:nvPr/>
        </p:nvSpPr>
        <p:spPr>
          <a:xfrm rot="-5400000">
            <a:off x="4980765" y="4931893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-1348810" y="7003323"/>
            <a:ext cx="5508869" cy="3899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3"/>
              </a:lnSpc>
            </a:pPr>
            <a:r>
              <a:rPr lang="en-US" b="true" sz="37887" spc="-1855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08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8275320" y="7178040"/>
            <a:ext cx="8458200" cy="2466975"/>
            <a:chOff x="0" y="0"/>
            <a:chExt cx="11277600" cy="3289300"/>
          </a:xfrm>
        </p:grpSpPr>
        <p:sp>
          <p:nvSpPr>
            <p:cNvPr name="Freeform 11" id="11" descr="detect_words.png"/>
            <p:cNvSpPr/>
            <p:nvPr/>
          </p:nvSpPr>
          <p:spPr>
            <a:xfrm flipH="false" flipV="false" rot="0">
              <a:off x="0" y="0"/>
              <a:ext cx="11277600" cy="3289300"/>
            </a:xfrm>
            <a:custGeom>
              <a:avLst/>
              <a:gdLst/>
              <a:ahLst/>
              <a:cxnLst/>
              <a:rect r="r" b="b" t="t" l="l"/>
              <a:pathLst>
                <a:path h="3289300" w="11277600">
                  <a:moveTo>
                    <a:pt x="0" y="0"/>
                  </a:moveTo>
                  <a:lnTo>
                    <a:pt x="11277600" y="0"/>
                  </a:lnTo>
                  <a:lnTo>
                    <a:pt x="11277600" y="3289300"/>
                  </a:lnTo>
                  <a:lnTo>
                    <a:pt x="0" y="3289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358520" y="2174196"/>
            <a:ext cx="4609700" cy="603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150"/>
              </a:lnSpc>
            </a:pPr>
            <a:r>
              <a:rPr lang="en-US" sz="50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Weaknesses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7358520" y="5749338"/>
            <a:ext cx="3789369" cy="603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150"/>
              </a:lnSpc>
            </a:pPr>
            <a:r>
              <a:rPr lang="en-US" sz="50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Strengths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358520" y="2891742"/>
            <a:ext cx="2646493" cy="1798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5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66.4% on 27 unseen MAGE generators. Small open models (OPT, BLOOM, GPT-J) go undetected.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358520" y="6466884"/>
            <a:ext cx="2732865" cy="1798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5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97.4% accuracy and 2.0% false positives on the test set. Every verdict comes with reasons.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103723" y="2174196"/>
            <a:ext cx="3398568" cy="603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150"/>
              </a:lnSpc>
            </a:pPr>
            <a:r>
              <a:rPr lang="en-US" sz="50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Threats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103723" y="2891742"/>
            <a:ext cx="2747991" cy="1503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5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Paraphrasing (98% to 93% caught), plain writing by non-native writers, and new LLMs.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2823803" y="5974766"/>
            <a:ext cx="7624734" cy="7624734"/>
          </a:xfrm>
          <a:custGeom>
            <a:avLst/>
            <a:gdLst/>
            <a:ahLst/>
            <a:cxnLst/>
            <a:rect r="r" b="b" t="t" l="l"/>
            <a:pathLst>
              <a:path h="7624734" w="7624734">
                <a:moveTo>
                  <a:pt x="0" y="0"/>
                </a:moveTo>
                <a:lnTo>
                  <a:pt x="7624734" y="0"/>
                </a:lnTo>
                <a:lnTo>
                  <a:pt x="7624734" y="7624734"/>
                </a:lnTo>
                <a:lnTo>
                  <a:pt x="0" y="76247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2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3103723" y="5749338"/>
            <a:ext cx="4784398" cy="603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150"/>
              </a:lnSpc>
            </a:pPr>
            <a:r>
              <a:rPr lang="en-US" sz="5000" b="true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Opportunities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103723" y="6466884"/>
            <a:ext cx="2646493" cy="1798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500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A modern reader model or Binoculars, sentence-level detection, calibrated probabilities.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6898777" y="2154593"/>
            <a:ext cx="273987" cy="501101"/>
          </a:xfrm>
          <a:custGeom>
            <a:avLst/>
            <a:gdLst/>
            <a:ahLst/>
            <a:cxnLst/>
            <a:rect r="r" b="b" t="t" l="l"/>
            <a:pathLst>
              <a:path h="501101" w="273987">
                <a:moveTo>
                  <a:pt x="0" y="0"/>
                </a:moveTo>
                <a:lnTo>
                  <a:pt x="273986" y="0"/>
                </a:lnTo>
                <a:lnTo>
                  <a:pt x="273986" y="501101"/>
                </a:lnTo>
                <a:lnTo>
                  <a:pt x="0" y="50110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898777" y="5729735"/>
            <a:ext cx="273987" cy="501101"/>
          </a:xfrm>
          <a:custGeom>
            <a:avLst/>
            <a:gdLst/>
            <a:ahLst/>
            <a:cxnLst/>
            <a:rect r="r" b="b" t="t" l="l"/>
            <a:pathLst>
              <a:path h="501101" w="273987">
                <a:moveTo>
                  <a:pt x="0" y="0"/>
                </a:moveTo>
                <a:lnTo>
                  <a:pt x="273986" y="0"/>
                </a:lnTo>
                <a:lnTo>
                  <a:pt x="273986" y="501101"/>
                </a:lnTo>
                <a:lnTo>
                  <a:pt x="0" y="50110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2686814" y="5729735"/>
            <a:ext cx="273987" cy="501101"/>
          </a:xfrm>
          <a:custGeom>
            <a:avLst/>
            <a:gdLst/>
            <a:ahLst/>
            <a:cxnLst/>
            <a:rect r="r" b="b" t="t" l="l"/>
            <a:pathLst>
              <a:path h="501101" w="273987">
                <a:moveTo>
                  <a:pt x="0" y="0"/>
                </a:moveTo>
                <a:lnTo>
                  <a:pt x="273987" y="0"/>
                </a:lnTo>
                <a:lnTo>
                  <a:pt x="273987" y="501101"/>
                </a:lnTo>
                <a:lnTo>
                  <a:pt x="0" y="50110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2686814" y="2154593"/>
            <a:ext cx="273987" cy="501101"/>
          </a:xfrm>
          <a:custGeom>
            <a:avLst/>
            <a:gdLst/>
            <a:ahLst/>
            <a:cxnLst/>
            <a:rect r="r" b="b" t="t" l="l"/>
            <a:pathLst>
              <a:path h="501101" w="273987">
                <a:moveTo>
                  <a:pt x="0" y="0"/>
                </a:moveTo>
                <a:lnTo>
                  <a:pt x="273987" y="0"/>
                </a:lnTo>
                <a:lnTo>
                  <a:pt x="273987" y="501101"/>
                </a:lnTo>
                <a:lnTo>
                  <a:pt x="0" y="50110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1822666" y="-1012936"/>
            <a:ext cx="7178392" cy="12095883"/>
          </a:xfrm>
          <a:custGeom>
            <a:avLst/>
            <a:gdLst/>
            <a:ahLst/>
            <a:cxnLst/>
            <a:rect r="r" b="b" t="t" l="l"/>
            <a:pathLst>
              <a:path h="12095883" w="7178392">
                <a:moveTo>
                  <a:pt x="0" y="0"/>
                </a:moveTo>
                <a:lnTo>
                  <a:pt x="7178393" y="0"/>
                </a:lnTo>
                <a:lnTo>
                  <a:pt x="7178393" y="12095883"/>
                </a:lnTo>
                <a:lnTo>
                  <a:pt x="0" y="1209588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-5400000">
            <a:off x="658740" y="2845074"/>
            <a:ext cx="10287000" cy="4090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913"/>
              </a:lnSpc>
            </a:pPr>
            <a:r>
              <a:rPr lang="en-US" b="true" sz="16913" spc="-811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SWOT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-707288" y="-417289"/>
            <a:ext cx="4510440" cy="2822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39"/>
              </a:lnSpc>
            </a:pPr>
            <a:r>
              <a:rPr lang="en-US" b="true" sz="27276" spc="-1335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09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03232" y="2265045"/>
            <a:ext cx="13935780" cy="13935780"/>
          </a:xfrm>
          <a:custGeom>
            <a:avLst/>
            <a:gdLst/>
            <a:ahLst/>
            <a:cxnLst/>
            <a:rect r="r" b="b" t="t" l="l"/>
            <a:pathLst>
              <a:path h="13935780" w="13935780">
                <a:moveTo>
                  <a:pt x="0" y="0"/>
                </a:moveTo>
                <a:lnTo>
                  <a:pt x="13935780" y="0"/>
                </a:lnTo>
                <a:lnTo>
                  <a:pt x="13935780" y="13935780"/>
                </a:lnTo>
                <a:lnTo>
                  <a:pt x="0" y="139357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2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748998" y="1409700"/>
            <a:ext cx="8510302" cy="2091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8730"/>
              </a:lnSpc>
            </a:pPr>
            <a:r>
              <a:rPr lang="en-US" b="true" sz="9000" spc="-432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Conclusion</a:t>
            </a:r>
          </a:p>
          <a:p>
            <a:pPr algn="just">
              <a:lnSpc>
                <a:spcPts val="8730"/>
              </a:lnSpc>
            </a:pPr>
            <a:r>
              <a:rPr lang="en-US" b="true" sz="9000" spc="-432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and next steps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8748998" y="3697481"/>
            <a:ext cx="7707573" cy="3019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99"/>
              </a:lnSpc>
            </a:pPr>
            <a:r>
              <a:rPr lang="en-US" sz="1998" spc="118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Two explainable models, averaged, beat a fine-tuned DistilBERT (97.4% vs 96.1%) with under a third of its false positives, and every verdict can be checked. Removing dataset shortcuts mattered most.</a:t>
            </a:r>
          </a:p>
          <a:p>
            <a:pPr algn="just">
              <a:lnSpc>
                <a:spcPts val="2699"/>
              </a:lnSpc>
            </a:pPr>
          </a:p>
          <a:p>
            <a:pPr algn="just">
              <a:lnSpc>
                <a:spcPts val="2699"/>
              </a:lnSpc>
            </a:pPr>
            <a:r>
              <a:rPr lang="en-US" sz="1998" spc="118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Next: a threshold for a fixed 1% FPR, sentence-level detection for mixed texts, the RAID benchmark and Indian languages. A detector score is a second opinion, never proof.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-103232" y="-216989"/>
            <a:ext cx="6669376" cy="5034429"/>
          </a:xfrm>
          <a:custGeom>
            <a:avLst/>
            <a:gdLst/>
            <a:ahLst/>
            <a:cxnLst/>
            <a:rect r="r" b="b" t="t" l="l"/>
            <a:pathLst>
              <a:path h="5034429" w="6669376">
                <a:moveTo>
                  <a:pt x="0" y="0"/>
                </a:moveTo>
                <a:lnTo>
                  <a:pt x="6669376" y="0"/>
                </a:lnTo>
                <a:lnTo>
                  <a:pt x="6669376" y="5034429"/>
                </a:lnTo>
                <a:lnTo>
                  <a:pt x="0" y="503442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-1145438" y="817235"/>
            <a:ext cx="6265088" cy="3899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3"/>
              </a:lnSpc>
            </a:pPr>
            <a:r>
              <a:rPr lang="en-US" b="true" sz="37887" spc="-1855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10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28444" y="291560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GlassQuill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231461" y="291560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155919" y="291560"/>
            <a:ext cx="1927460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Case Study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430067" y="1936909"/>
            <a:ext cx="11221860" cy="11221860"/>
          </a:xfrm>
          <a:custGeom>
            <a:avLst/>
            <a:gdLst/>
            <a:ahLst/>
            <a:cxnLst/>
            <a:rect r="r" b="b" t="t" l="l"/>
            <a:pathLst>
              <a:path h="11221860" w="11221860">
                <a:moveTo>
                  <a:pt x="0" y="0"/>
                </a:moveTo>
                <a:lnTo>
                  <a:pt x="11221860" y="0"/>
                </a:lnTo>
                <a:lnTo>
                  <a:pt x="11221860" y="11221859"/>
                </a:lnTo>
                <a:lnTo>
                  <a:pt x="0" y="1122185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2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96258" y="-667522"/>
            <a:ext cx="19680517" cy="1921478"/>
          </a:xfrm>
          <a:custGeom>
            <a:avLst/>
            <a:gdLst/>
            <a:ahLst/>
            <a:cxnLst/>
            <a:rect r="r" b="b" t="t" l="l"/>
            <a:pathLst>
              <a:path h="1921478" w="19680517">
                <a:moveTo>
                  <a:pt x="0" y="0"/>
                </a:moveTo>
                <a:lnTo>
                  <a:pt x="19680516" y="0"/>
                </a:lnTo>
                <a:lnTo>
                  <a:pt x="19680516" y="1921479"/>
                </a:lnTo>
                <a:lnTo>
                  <a:pt x="0" y="19214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4141977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SIT Pune 2026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GlassQuill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585339" y="287417"/>
            <a:ext cx="3117323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Case Study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484590" y="287417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330760" y="287417"/>
            <a:ext cx="1406261" cy="505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sz="2598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660794" y="3272199"/>
            <a:ext cx="10598506" cy="1675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5417"/>
              </a:lnSpc>
            </a:pPr>
            <a:r>
              <a:rPr lang="en-US" b="true" sz="16401" spc="-802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Thank You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799509" y="5118745"/>
            <a:ext cx="8459791" cy="492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380"/>
              </a:lnSpc>
            </a:pPr>
            <a:r>
              <a:rPr lang="en-US" sz="4380" spc="-87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DAHZB9RJQuA</dc:identifier>
  <dcterms:modified xsi:type="dcterms:W3CDTF">2011-08-01T06:04:30Z</dcterms:modified>
  <cp:revision>1</cp:revision>
  <dc:title>GlassQuill_Presentation.pptx</dc:title>
</cp:coreProperties>
</file>