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8" r:id="rId20"/>
    <p:sldId id="257" r:id="rId7"/>
    <p:sldId id="258" r:id="rId8"/>
    <p:sldId id="269" r:id="rId21"/>
    <p:sldId id="259" r:id="rId9"/>
    <p:sldId id="270" r:id="rId22"/>
    <p:sldId id="260" r:id="rId10"/>
    <p:sldId id="261" r:id="rId11"/>
    <p:sldId id="271" r:id="rId23"/>
    <p:sldId id="262" r:id="rId12"/>
    <p:sldId id="272" r:id="rId24"/>
    <p:sldId id="263" r:id="rId13"/>
    <p:sldId id="273" r:id="rId25"/>
    <p:sldId id="267" r:id="rId19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Hoves" charset="1" panose="02000003020000060003"/>
      <p:regular r:id="rId17"/>
    </p:embeddedFont>
    <p:embeddedFont>
      <p:font typeface="TT Hoves Bold" charset="1" panose="0200000302000006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15.xml"/><Relationship Id="rId20" Type="http://schemas.openxmlformats.org/officeDocument/2006/relationships/slide" Target="slides/slide2.xml"/><Relationship Id="rId21" Type="http://schemas.openxmlformats.org/officeDocument/2006/relationships/slide" Target="slides/slide5.xml"/><Relationship Id="rId22" Type="http://schemas.openxmlformats.org/officeDocument/2006/relationships/slide" Target="slides/slide7.xml"/><Relationship Id="rId23" Type="http://schemas.openxmlformats.org/officeDocument/2006/relationships/slide" Target="slides/slide10.xml"/><Relationship Id="rId24" Type="http://schemas.openxmlformats.org/officeDocument/2006/relationships/slide" Target="slides/slide12.xml"/><Relationship Id="rId25" Type="http://schemas.openxmlformats.org/officeDocument/2006/relationships/slide" Target="slides/slide14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idea: GlassQuill says whether a text reads as human or AI-written, and shows the evidence behind every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false positive accuses a real person of cheating. That is the costly error, so we report the false positive rate (FPR) next to accuracy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Domain: education and content moderation, NLP text classification. Stakeholders: teachers, students, platforms and researchers. A fourth question compares SHAP and LIME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three training corpora: with HC3 alone, the model called a modern ChatGPT paragraph 100% human. HAP-E and M4GT add 2024 models and 12 more genres. The chart shows text lengths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cleaning, accuracy was 99.3%: the models were spotting formatting, not writing style. After removing the shortcuts it fell to a believable level, which proves the shortcuts were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Perplexity = exp of the mean negative log-probability of each token under GPT-2. LLMs pick likely words, so another language model finds their text easy to predict. Burstiness = std / mean sentence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models go from simple and transparent to powerful and opaque, so we can measure what explainability costs. Monotone constraints stop rules like 'very even sentences mean human'.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verdict rule was picked on the validation set, not the test set. DistilBERT is close on accuracy but flags 3.5 times as many humans. ROC-AUC of the verdict is 0.995.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here: paste a ChatGPT example and a human paragraph. LIME recovered only half of the logistic regression's true top-10 words, so the app uses SHAP and exact weights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honestly: chat models like GPT-4 are still caught 91% of the time on MAGE, but small base models sample surprising words, so their perplexity looks human to every detector we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RQ2: explainable models matched the black box. The biggest lesson was data quality: shortcuts in the dataset made early results look far better than they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Code, report and results: github.com/ThatOneRahul/glassquill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12 minutes in six parts, then the live demo and questions. Each part maps to one part of the evaluation: problem, data, method, implementation, results,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I trained on HC3 only; that model called a modern ChatGPT paragraph 100% human, so we added two corpora of 2024 models. A first run above 99% exposed formatting shortcuts, which we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inputs are either the raw text (TF-IDF, DistilBERT) or 18 numeric features computed from it (XGBoost). qid is never a feature: it only keeps a question's answers in one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as a snake: top row left to right, then the bottom row right to left. The dark box is the key design choice: the verdict rule was chosen on the validation set, never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the GitHub repository. Trained models are committed, so the app runs without retraining. The API validates input, rate-limits each IP and never stores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confusion matrices on the test set. Bottom left: every model drops on unseen generators, but the verdict keeps the lowest false positive rate. Bottom right: paraphrasing hurts the word model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0365" y="4206240"/>
            <a:ext cx="10910396" cy="32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b="true" sz="12998" spc="-63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GlassQuill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7781" y="6766560"/>
            <a:ext cx="12801600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Explainable detection of AI-generated text</a:t>
            </a:r>
          </a:p>
        </p:txBody>
      </p:sp>
      <p:sp>
        <p:nvSpPr>
          <p:cNvPr id="13" name="Team"/>
          <p:cNvSpPr txBox="1"/>
          <p:nvPr/>
        </p:nvSpPr>
        <p:spPr>
          <a:xfrm>
            <a:off x="1645920" y="7863840"/>
            <a:ext cx="159105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43434"/>
                </a:solidFill>
                <a:latin typeface="TT Hoves"/>
              </a:rPr>
              <a:t>Applications and Use Cases of Machine Learning (TE7483) · AIML, SIT Pune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Ranjan Verma (24070126149)   ·   Rahul Narkhede (24070126146)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Priyansh Johri (24070126142)   ·   Priyansh Pandey (24070126143)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12 minutes, then questions and a live demo</a:t>
            </a:r>
          </a:p>
        </p:txBody>
      </p:sp>
      <p:sp>
        <p:nvSpPr>
          <p:cNvPr id="13" name="Agenda 01"/>
          <p:cNvSpPr/>
          <p:nvPr/>
        </p:nvSpPr>
        <p:spPr>
          <a:xfrm>
            <a:off x="1005840" y="3931920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01</a:t>
            </a:r>
          </a:p>
        </p:txBody>
      </p:sp>
      <p:sp>
        <p:nvSpPr>
          <p:cNvPr id="14" name="Agenda text 01"/>
          <p:cNvSpPr txBox="1"/>
          <p:nvPr/>
        </p:nvSpPr>
        <p:spPr>
          <a:xfrm>
            <a:off x="2743200" y="397763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Problem and use case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why explainable detection, who needs it, scope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2 min</a:t>
            </a:r>
          </a:p>
        </p:txBody>
      </p:sp>
      <p:sp>
        <p:nvSpPr>
          <p:cNvPr id="15" name="Agenda 02"/>
          <p:cNvSpPr/>
          <p:nvPr/>
        </p:nvSpPr>
        <p:spPr>
          <a:xfrm>
            <a:off x="9418319" y="3931920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02</a:t>
            </a:r>
          </a:p>
        </p:txBody>
      </p:sp>
      <p:sp>
        <p:nvSpPr>
          <p:cNvPr id="16" name="Agenda text 02"/>
          <p:cNvSpPr txBox="1"/>
          <p:nvPr/>
        </p:nvSpPr>
        <p:spPr>
          <a:xfrm>
            <a:off x="11155680" y="397763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Data and preprocessing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4 public datasets, cleaning, 18 features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3 min</a:t>
            </a:r>
          </a:p>
        </p:txBody>
      </p:sp>
      <p:sp>
        <p:nvSpPr>
          <p:cNvPr id="17" name="Agenda 03"/>
          <p:cNvSpPr/>
          <p:nvPr/>
        </p:nvSpPr>
        <p:spPr>
          <a:xfrm>
            <a:off x="1005840" y="5806440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03</a:t>
            </a:r>
          </a:p>
        </p:txBody>
      </p:sp>
      <p:sp>
        <p:nvSpPr>
          <p:cNvPr id="18" name="Agenda text 03"/>
          <p:cNvSpPr txBox="1"/>
          <p:nvPr/>
        </p:nvSpPr>
        <p:spPr>
          <a:xfrm>
            <a:off x="2743200" y="585215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Methodology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pipeline, four models, verdict rule, validation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2 min</a:t>
            </a:r>
          </a:p>
        </p:txBody>
      </p:sp>
      <p:sp>
        <p:nvSpPr>
          <p:cNvPr id="19" name="Agenda 04"/>
          <p:cNvSpPr/>
          <p:nvPr/>
        </p:nvSpPr>
        <p:spPr>
          <a:xfrm>
            <a:off x="9418319" y="5806440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04</a:t>
            </a:r>
          </a:p>
        </p:txBody>
      </p:sp>
      <p:sp>
        <p:nvSpPr>
          <p:cNvPr id="20" name="Agenda text 04"/>
          <p:cNvSpPr txBox="1"/>
          <p:nvPr/>
        </p:nvSpPr>
        <p:spPr>
          <a:xfrm>
            <a:off x="11155680" y="585215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Implementation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code structure, reproducibility, the web app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2 min</a:t>
            </a:r>
          </a:p>
        </p:txBody>
      </p:sp>
      <p:sp>
        <p:nvSpPr>
          <p:cNvPr id="21" name="Agenda 05"/>
          <p:cNvSpPr/>
          <p:nvPr/>
        </p:nvSpPr>
        <p:spPr>
          <a:xfrm>
            <a:off x="1005840" y="7680959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05</a:t>
            </a:r>
          </a:p>
        </p:txBody>
      </p:sp>
      <p:sp>
        <p:nvSpPr>
          <p:cNvPr id="22" name="Agenda text 05"/>
          <p:cNvSpPr txBox="1"/>
          <p:nvPr/>
        </p:nvSpPr>
        <p:spPr>
          <a:xfrm>
            <a:off x="2743200" y="772667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Results and analysis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metrics, comparison, robustness, explanations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2 min</a:t>
            </a:r>
          </a:p>
        </p:txBody>
      </p:sp>
      <p:sp>
        <p:nvSpPr>
          <p:cNvPr id="23" name="Agenda 06"/>
          <p:cNvSpPr/>
          <p:nvPr/>
        </p:nvSpPr>
        <p:spPr>
          <a:xfrm>
            <a:off x="9418319" y="7680959"/>
            <a:ext cx="1463040" cy="146304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T Hoves"/>
              </a:rPr>
              <a:t>06</a:t>
            </a:r>
          </a:p>
        </p:txBody>
      </p:sp>
      <p:sp>
        <p:nvSpPr>
          <p:cNvPr id="24" name="Agenda text 06"/>
          <p:cNvSpPr txBox="1"/>
          <p:nvPr/>
        </p:nvSpPr>
        <p:spPr>
          <a:xfrm>
            <a:off x="11155680" y="7726679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43434"/>
                </a:solidFill>
                <a:latin typeface="TT Hoves"/>
              </a:rPr>
              <a:t>Conclusion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SWOT, findings and future scope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43434"/>
                </a:solidFill>
                <a:latin typeface="TT Hoves"/>
              </a:rPr>
              <a:t>1 min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03046" y="4688372"/>
            <a:ext cx="8395740" cy="408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Colleges, newsrooms and hiring teams use AI-text detectors, but most return a bare score. A student who is wrongly flagged has no way to question it.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Liang et al. (2023) found popular detectors flagged over half of essays by non-native English writers as AI. GlassQuill labels English text as human or AI, explains why, and treats a low false positive rate as the main goal.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126267" y="1407482"/>
            <a:ext cx="9760574" cy="304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5"/>
              </a:lnSpc>
            </a:pPr>
            <a:r>
              <a:rPr lang="en-US" b="true" sz="12388" spc="-60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4153815" y="7844385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4153815" y="20765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5009345" y="4960472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5628" y="-3991568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504950" y="6061577"/>
            <a:ext cx="6574559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Build an explainable human-vs-AI classifier for English text (50 to 400 words), keep humans wrongly flagged as AI low, and test it on unseen generators and paraphrased text.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75489" y="1170261"/>
            <a:ext cx="6998061" cy="2561528"/>
            <a:chOff x="0" y="0"/>
            <a:chExt cx="2342659" cy="857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91672" y="2024301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5489" y="3862348"/>
            <a:ext cx="6998061" cy="2561528"/>
            <a:chOff x="0" y="0"/>
            <a:chExt cx="2342659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75489" y="6557226"/>
            <a:ext cx="6998061" cy="2561528"/>
            <a:chOff x="0" y="0"/>
            <a:chExt cx="2342659" cy="857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91672" y="4717783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1672" y="7411266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908" y="1730935"/>
            <a:ext cx="4132127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400" spc="22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RQ1</a:t>
            </a: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Which simple signals (perplexity, sentence rhythm, vocabulary, punctuation) separate human and AI text?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18908" y="4424417"/>
            <a:ext cx="4132127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400" spc="22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RQ2</a:t>
            </a: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How close can explainable models (XGBoost + SHAP) get to a black box (DistilBERT)?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18908" y="7117899"/>
            <a:ext cx="4132127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400" spc="22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RQ3</a:t>
            </a:r>
            <a:r>
              <a:rPr lang="en-US" sz="1400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How well do the detectors hold up on unseen LLMs and on paraphrased AI text?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4950" y="3384816"/>
            <a:ext cx="7639050" cy="26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Research questions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case, scope and refinement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Domain: education and content moderation  ·  Task: binary NLP text classification (0 = human, 1 = AI)</a:t>
            </a:r>
          </a:p>
        </p:txBody>
      </p:sp>
      <p:graphicFrame>
        <p:nvGraphicFramePr>
          <p:cNvPr id="13" name="Stakeholders"/>
          <p:cNvGraphicFramePr>
            <a:graphicFrameLocks noGrp="1"/>
          </p:cNvGraphicFramePr>
          <p:nvPr/>
        </p:nvGraphicFramePr>
        <p:xfrm>
          <a:off x="1005840" y="3840480"/>
          <a:ext cx="7863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463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Stakeholder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What they need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Teachers, universities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a second opinion with reasons, not a verdict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Students, writers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a fair way to question a flag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Platforms, newsrooms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screening at scale with an audit trail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Researchers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a transparent baseline for detectors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Phase I refinement"/>
          <p:cNvGraphicFramePr>
            <a:graphicFrameLocks noGrp="1"/>
          </p:cNvGraphicFramePr>
          <p:nvPr/>
        </p:nvGraphicFramePr>
        <p:xfrm>
          <a:off x="9418320" y="3840480"/>
          <a:ext cx="8046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02920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Phase I plan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Final project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HC3 only (ChatGPT 2022)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+ HAP-E and M4GT: 2024 models, 17 domains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Raw HC3 text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shortcut cleaning (99.3% was fake accuracy)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XGBoost as the verdict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mean of XGBoost + LR: FPR 6.6% to 2.0%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Gradio demo in Colab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React + FastAPI app, 28 tests, script pipeline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5" name="Scope"/>
          <p:cNvSpPr txBox="1"/>
          <p:nvPr/>
        </p:nvSpPr>
        <p:spPr>
          <a:xfrm>
            <a:off x="1005840" y="7223760"/>
            <a:ext cx="1627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43434"/>
                </a:solidFill>
                <a:latin typeface="TT Hoves"/>
              </a:rPr>
              <a:t>In scope:</a:t>
            </a:r>
            <a:r>
              <a:rPr sz="1800" b="0">
                <a:solidFill>
                  <a:srgbClr val="343434"/>
                </a:solidFill>
                <a:latin typeface="TT Hoves"/>
              </a:rPr>
              <a:t> English text, 50 to 400 words, many genres (Q&amp;A, essays, news, fiction, academic, Reddit, Wikipedia).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43434"/>
                </a:solidFill>
                <a:latin typeface="TT Hoves"/>
              </a:rPr>
              <a:t>Out of scope:</a:t>
            </a:r>
            <a:r>
              <a:rPr sz="1800" b="0">
                <a:solidFill>
                  <a:srgbClr val="343434"/>
                </a:solidFill>
                <a:latin typeface="TT Hoves"/>
              </a:rPr>
              <a:t> other languages, source code, texts that mix human and AI writing, naming which LLM wrote a text.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999" spc="119" u="none" b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HC3</a:t>
            </a: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(ChatGPT vs human answers to the same questions), </a:t>
            </a:r>
            <a:r>
              <a:rPr lang="en-US" sz="1999" spc="119" u="none" b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HAP-E</a:t>
            </a: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(GPT-4o, Llama-3; 6 genres) and </a:t>
            </a:r>
            <a:r>
              <a:rPr lang="en-US" sz="1999" spc="119" u="none" b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M4GT</a:t>
            </a: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(GPT-4, Mixtral, Gemma, Cohere): 31,984 texts in 17 domains, 50% human and 50% AI in each.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Target: label (0 = human, 1 = AI), no missing values after cleaning. Split 70/15/15 by question or document. </a:t>
            </a:r>
            <a:r>
              <a:rPr lang="en-US" sz="1999" spc="119" u="none" b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MAGE</a:t>
            </a: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(27 generators, 2,000 texts) is held out as the out-of-domain test.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868684"/>
            <a:ext cx="7639050" cy="26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Datasets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pic>
        <p:nvPicPr>
          <p:cNvPr id="12" name="length_hist" descr="length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097280"/>
            <a:ext cx="6309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Attributes, target and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One row per text after cleaning: 31,984 texts, 0 missing values</a:t>
            </a:r>
          </a:p>
        </p:txBody>
      </p:sp>
      <p:graphicFrame>
        <p:nvGraphicFramePr>
          <p:cNvPr id="13" name="Data dictionary"/>
          <p:cNvGraphicFramePr>
            <a:graphicFrameLocks noGrp="1"/>
          </p:cNvGraphicFramePr>
          <p:nvPr/>
        </p:nvGraphicFramePr>
        <p:xfrm>
          <a:off x="1005840" y="3840480"/>
          <a:ext cx="877824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37360"/>
                <a:gridCol w="512064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Column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text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string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the passage: model input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label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int 0/1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target: 0 = human, 1 = AI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qid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string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question / document id, for splitting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source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category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one of 17 domains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generator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category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human or the model name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corpus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category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HC3, HAP-E or M4GT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n_words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int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words after cleaning (50 to 400)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Splits"/>
          <p:cNvGraphicFramePr>
            <a:graphicFrameLocks noGrp="1"/>
          </p:cNvGraphicFramePr>
          <p:nvPr/>
        </p:nvGraphicFramePr>
        <p:xfrm>
          <a:off x="10241280" y="3840480"/>
          <a:ext cx="71323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21031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Split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Texts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T Hoves"/>
                        </a:rPr>
                        <a:t>Share AI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Train (70%)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22,371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0.500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Validation (15%)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4,784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0.500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Test (15%)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4,829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0.501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MAGE (unseen)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2,000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43434"/>
                          </a:solidFill>
                          <a:latin typeface="TT Hoves"/>
                        </a:rPr>
                        <a:t>0.500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5" name="Validation notes"/>
          <p:cNvSpPr txBox="1"/>
          <p:nvPr/>
        </p:nvSpPr>
        <p:spPr>
          <a:xfrm>
            <a:off x="10241280" y="7086600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43434"/>
                </a:solidFill>
                <a:latin typeface="TT Hoves"/>
              </a:rPr>
              <a:t>Missing values:</a:t>
            </a:r>
            <a:r>
              <a:rPr sz="1600" b="0">
                <a:solidFill>
                  <a:srgbClr val="343434"/>
                </a:solidFill>
                <a:latin typeface="TT Hoves"/>
              </a:rPr>
              <a:t> empty and duplicate texts dropped; features divide by max(words, 1), so none are missing.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43434"/>
                </a:solidFill>
                <a:latin typeface="TT Hoves"/>
              </a:rPr>
              <a:t>Validation:</a:t>
            </a:r>
            <a:r>
              <a:rPr sz="1600" b="0">
                <a:solidFill>
                  <a:srgbClr val="343434"/>
                </a:solidFill>
                <a:latin typeface="TT Hoves"/>
              </a:rPr>
              <a:t> GroupShuffleSplit by question or document, 5-fold GroupKFold for tuning, test set used once.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9899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74145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40375"/>
            <a:ext cx="264649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Tokenizer leftovers: 34% of HC3 human texts had “do n't” vs 0.02% of AI texts, plus “( x )” and URL_0.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15521"/>
            <a:ext cx="273286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Balanced per domain: open_qa had 20 human vs 764 AI texts, so the topic predicted the label.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9899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40375"/>
            <a:ext cx="2747991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Markdown bold and headings in AI text, curly quotes and literal “\n” were normalised for every source.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74145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15521"/>
            <a:ext cx="264649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Split by question or document and tuned with GroupKFold, so no topic is in both train and test.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156795"/>
            <a:ext cx="6935284" cy="251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41"/>
              </a:lnSpc>
            </a:pPr>
            <a:r>
              <a:rPr lang="en-US" b="true" sz="12696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cleaning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2880286" y="-327462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01546"/>
            <a:ext cx="8115300" cy="335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b="true" sz="13278" spc="-6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18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34075"/>
            <a:ext cx="7707571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999" spc="119" u="none" b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6 from GPT-2: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how predictable each word is (log perplexity, its spread and maximum, top-1 and top-10 guess rates, entropy). AI text is easier to predict: perplexity is the strongest signal (-1.4 SD).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999" spc="119" u="none" b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12 on writing style: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sentence length and burstiness (humans 0.53 vs AI 0.38), vocabulary richness, word length, punctuation, first-person words, contractions and readability.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0766469" y="5556794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19168" y="697521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0507" y="5905500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2233" y="5905500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1713" y="5905500"/>
            <a:ext cx="192746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ML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run_pipeline.py: eight cached stages, seed 42, reproducible with one command</a:t>
            </a:r>
          </a:p>
        </p:txBody>
      </p:sp>
      <p:sp>
        <p:nvSpPr>
          <p:cNvPr id="13" name="Step 1  Load"/>
          <p:cNvSpPr/>
          <p:nvPr/>
        </p:nvSpPr>
        <p:spPr>
          <a:xfrm>
            <a:off x="1005840" y="38404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1  Load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HC3, HAP-E, M4GT</a:t>
            </a:r>
          </a:p>
        </p:txBody>
      </p:sp>
      <p:sp>
        <p:nvSpPr>
          <p:cNvPr id="14" name="Arrow"/>
          <p:cNvSpPr/>
          <p:nvPr/>
        </p:nvSpPr>
        <p:spPr>
          <a:xfrm>
            <a:off x="3840479" y="4457700"/>
            <a:ext cx="365759" cy="365760"/>
          </a:xfrm>
          <a:prstGeom prst="righ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2  Clean"/>
          <p:cNvSpPr/>
          <p:nvPr/>
        </p:nvSpPr>
        <p:spPr>
          <a:xfrm>
            <a:off x="4297680" y="38404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2  Clean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remove shortcuts</a:t>
            </a:r>
          </a:p>
        </p:txBody>
      </p:sp>
      <p:sp>
        <p:nvSpPr>
          <p:cNvPr id="16" name="Arrow"/>
          <p:cNvSpPr/>
          <p:nvPr/>
        </p:nvSpPr>
        <p:spPr>
          <a:xfrm>
            <a:off x="7132320" y="4457700"/>
            <a:ext cx="365759" cy="365760"/>
          </a:xfrm>
          <a:prstGeom prst="righ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3  Balance"/>
          <p:cNvSpPr/>
          <p:nvPr/>
        </p:nvSpPr>
        <p:spPr>
          <a:xfrm>
            <a:off x="7589520" y="38404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3  Balance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50/50 per domain</a:t>
            </a:r>
          </a:p>
        </p:txBody>
      </p:sp>
      <p:sp>
        <p:nvSpPr>
          <p:cNvPr id="18" name="Arrow"/>
          <p:cNvSpPr/>
          <p:nvPr/>
        </p:nvSpPr>
        <p:spPr>
          <a:xfrm>
            <a:off x="10424160" y="4457700"/>
            <a:ext cx="365759" cy="365760"/>
          </a:xfrm>
          <a:prstGeom prst="righ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 4  Split"/>
          <p:cNvSpPr/>
          <p:nvPr/>
        </p:nvSpPr>
        <p:spPr>
          <a:xfrm>
            <a:off x="10881360" y="38404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4  Split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by group 70/15/15</a:t>
            </a:r>
          </a:p>
        </p:txBody>
      </p:sp>
      <p:sp>
        <p:nvSpPr>
          <p:cNvPr id="20" name="Arrow"/>
          <p:cNvSpPr/>
          <p:nvPr/>
        </p:nvSpPr>
        <p:spPr>
          <a:xfrm>
            <a:off x="13716000" y="4457700"/>
            <a:ext cx="365759" cy="365760"/>
          </a:xfrm>
          <a:prstGeom prst="righ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5  Features"/>
          <p:cNvSpPr/>
          <p:nvPr/>
        </p:nvSpPr>
        <p:spPr>
          <a:xfrm>
            <a:off x="14173200" y="38404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5  Features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18 + raw text</a:t>
            </a:r>
          </a:p>
        </p:txBody>
      </p:sp>
      <p:sp>
        <p:nvSpPr>
          <p:cNvPr id="22" name="Step 10  Explain"/>
          <p:cNvSpPr/>
          <p:nvPr/>
        </p:nvSpPr>
        <p:spPr>
          <a:xfrm>
            <a:off x="1005840" y="63550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10  Explain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SHAP, word weights</a:t>
            </a:r>
          </a:p>
        </p:txBody>
      </p:sp>
      <p:sp>
        <p:nvSpPr>
          <p:cNvPr id="23" name="Arrow"/>
          <p:cNvSpPr/>
          <p:nvPr/>
        </p:nvSpPr>
        <p:spPr>
          <a:xfrm>
            <a:off x="3840479" y="6972300"/>
            <a:ext cx="365759" cy="365760"/>
          </a:xfrm>
          <a:prstGeom prst="lef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 9  Evaluate"/>
          <p:cNvSpPr/>
          <p:nvPr/>
        </p:nvSpPr>
        <p:spPr>
          <a:xfrm>
            <a:off x="4297680" y="63550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9  Evaluate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test, MAGE, paraphrase</a:t>
            </a:r>
          </a:p>
        </p:txBody>
      </p:sp>
      <p:sp>
        <p:nvSpPr>
          <p:cNvPr id="25" name="Arrow"/>
          <p:cNvSpPr/>
          <p:nvPr/>
        </p:nvSpPr>
        <p:spPr>
          <a:xfrm>
            <a:off x="7132320" y="6972300"/>
            <a:ext cx="365759" cy="365760"/>
          </a:xfrm>
          <a:prstGeom prst="lef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ep 8  Verdict"/>
          <p:cNvSpPr/>
          <p:nvPr/>
        </p:nvSpPr>
        <p:spPr>
          <a:xfrm>
            <a:off x="7589520" y="6355080"/>
            <a:ext cx="2743200" cy="1600200"/>
          </a:xfrm>
          <a:prstGeom prst="rect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8  Verdict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rule chosen on val.</a:t>
            </a:r>
          </a:p>
        </p:txBody>
      </p:sp>
      <p:sp>
        <p:nvSpPr>
          <p:cNvPr id="27" name="Arrow"/>
          <p:cNvSpPr/>
          <p:nvPr/>
        </p:nvSpPr>
        <p:spPr>
          <a:xfrm>
            <a:off x="10424160" y="6972300"/>
            <a:ext cx="365759" cy="365760"/>
          </a:xfrm>
          <a:prstGeom prst="lef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 7  Tune"/>
          <p:cNvSpPr/>
          <p:nvPr/>
        </p:nvSpPr>
        <p:spPr>
          <a:xfrm>
            <a:off x="10881360" y="63550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7  Tune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5-fold GroupKFold</a:t>
            </a:r>
          </a:p>
        </p:txBody>
      </p:sp>
      <p:sp>
        <p:nvSpPr>
          <p:cNvPr id="29" name="Arrow"/>
          <p:cNvSpPr/>
          <p:nvPr/>
        </p:nvSpPr>
        <p:spPr>
          <a:xfrm>
            <a:off x="13716000" y="6972300"/>
            <a:ext cx="365759" cy="365760"/>
          </a:xfrm>
          <a:prstGeom prst="left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ep 6  Train"/>
          <p:cNvSpPr/>
          <p:nvPr/>
        </p:nvSpPr>
        <p:spPr>
          <a:xfrm>
            <a:off x="14173200" y="6355080"/>
            <a:ext cx="2743200" cy="1600200"/>
          </a:xfrm>
          <a:prstGeom prst="rect">
            <a:avLst/>
          </a:prstGeom>
          <a:solidFill>
            <a:srgbClr val="000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  <a:latin typeface="TT Hoves"/>
              </a:rPr>
              <a:t>6  Train</a:t>
            </a:r>
          </a:p>
          <a:p>
            <a:r>
              <a:rPr sz="1600" b="0">
                <a:solidFill>
                  <a:srgbClr val="FFFFFF"/>
                </a:solidFill>
                <a:latin typeface="TT Hoves"/>
              </a:rPr>
              <a:t>4 models</a:t>
            </a:r>
          </a:p>
        </p:txBody>
      </p:sp>
      <p:sp>
        <p:nvSpPr>
          <p:cNvPr id="31" name="Arrow"/>
          <p:cNvSpPr/>
          <p:nvPr/>
        </p:nvSpPr>
        <p:spPr>
          <a:xfrm>
            <a:off x="15361920" y="5577840"/>
            <a:ext cx="365760" cy="640080"/>
          </a:xfrm>
          <a:prstGeom prst="downArrow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ipeline note"/>
          <p:cNvSpPr txBox="1"/>
          <p:nvPr/>
        </p:nvSpPr>
        <p:spPr>
          <a:xfrm>
            <a:off x="1005840" y="9006840"/>
            <a:ext cx="1627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43434"/>
                </a:solidFill>
                <a:latin typeface="TT Hoves"/>
              </a:rPr>
              <a:t>Every stage saves its output, so any stage can be rerun alone. python run_pipeline.py --quick reproduces all stages on a sample in about 10 minutes.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26789" y="-2986203"/>
            <a:ext cx="9584989" cy="9584989"/>
          </a:xfrm>
          <a:custGeom>
            <a:avLst/>
            <a:gdLst/>
            <a:ahLst/>
            <a:cxnLst/>
            <a:rect r="r" b="b" t="t" l="l"/>
            <a:pathLst>
              <a:path h="9584989" w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3209977">
            <a:off x="9982257" y="7689589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5" id="25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14101836" y="1509155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DistilBERT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fine-tuned for 2 epochs. Most powerful, but a black box: kept for comparison.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01836" y="4295902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Verdict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= mean of XGBoost and TF-IDF + LR, chosen on validation. Unclear band: 35 to 65%.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01836" y="7045319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Evaluation: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test set used once, MAGE for unseen generators, a T5 paraphrase attack.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58475" y="1509155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Perplexity threshold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on GPT-2 log perplexity alone; cut-off chosen on validation. Zero-shot baseline.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58475" y="4292494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TF-IDF + logistic regression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on 1-2 word features; C tuned by 5-fold GroupKFold. Glass box on words.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58475" y="7069451"/>
            <a:ext cx="2816627" cy="165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  <a:r>
              <a:rPr lang="en-US" sz="1299" strike="noStrike" u="none" b="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XGBoost</a:t>
            </a: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on the 18 features, monotone constraints where theory and data agree. Explained with SHAP.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95244" y="3895276"/>
            <a:ext cx="4297511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76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Four models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62365" y="6159736"/>
            <a:ext cx="3563270" cy="3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and one verdict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9697" y="1825939"/>
            <a:ext cx="1786853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9697" y="4551396"/>
            <a:ext cx="2628856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9697" y="7332211"/>
            <a:ext cx="2628856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2381" y="1798260"/>
            <a:ext cx="1999455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2381" y="4523717"/>
            <a:ext cx="2628856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02381" y="7304532"/>
            <a:ext cx="2628856" cy="13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b="true" sz="10806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Complete, tested and reproducible: code, pipeline and a working web app</a:t>
            </a:r>
          </a:p>
        </p:txBody>
      </p:sp>
      <p:graphicFrame>
        <p:nvGraphicFramePr>
          <p:cNvPr id="13" name="Implementation stack"/>
          <p:cNvGraphicFramePr>
            <a:graphicFrameLocks noGrp="1"/>
          </p:cNvGraphicFramePr>
          <p:nvPr/>
        </p:nvGraphicFramePr>
        <p:xfrm>
          <a:off x="1005840" y="3840480"/>
          <a:ext cx="81381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Layer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Tools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Code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Data, features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pandas, GPT-2, textstat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src/data.py, features.py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Models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scikit-learn, XGBoost, DistilBERT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src/models.py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Explanations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SHAP, LIME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src/explain.py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Pipeline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8 cached stages, seed 42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run_pipeline.py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Web app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FastAPI + React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server.py, web/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Quality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28 tests, lint, types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tests/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14" name="Screenshot detect_verdict.png" descr="detect_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794760"/>
            <a:ext cx="8046720" cy="3576320"/>
          </a:xfrm>
          <a:prstGeom prst="rect">
            <a:avLst/>
          </a:prstGeom>
        </p:spPr>
      </p:pic>
      <p:sp>
        <p:nvSpPr>
          <p:cNvPr id="15" name="Screenshot caption"/>
          <p:cNvSpPr txBox="1"/>
          <p:nvPr/>
        </p:nvSpPr>
        <p:spPr>
          <a:xfrm>
            <a:off x="9326880" y="74523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43434"/>
                </a:solidFill>
                <a:latin typeface="TT Hoves"/>
              </a:rPr>
              <a:t>The detector page: verdict, both model scores and the evidence below it.</a:t>
            </a:r>
          </a:p>
        </p:txBody>
      </p:sp>
      <p:sp>
        <p:nvSpPr>
          <p:cNvPr id="16" name="Environment"/>
          <p:cNvSpPr txBox="1"/>
          <p:nvPr/>
        </p:nvSpPr>
        <p:spPr>
          <a:xfrm>
            <a:off x="1005840" y="800100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43434"/>
                </a:solidFill>
                <a:latin typeface="TT Hoves"/>
              </a:rPr>
              <a:t>Python 3.11, PyTorch 2.11 on an RTX 3050 laptop GPU. Full run about 1.5 h; the app answers in about 0.1 s per text.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26789" y="-298620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585916" y="4260068"/>
            <a:ext cx="10014901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89"/>
              </a:lnSpc>
            </a:pPr>
            <a:r>
              <a:rPr lang="en-US" b="true" sz="6999" spc="-33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Test accuracy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5454827"/>
            <a:ext cx="7615182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On 4,829 unseen test texts the verdict beats every single model and wrongly flags only 2.0% of human texts.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1343" y="1565272"/>
            <a:ext cx="7315066" cy="254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52"/>
              </a:lnSpc>
            </a:pPr>
            <a:r>
              <a:rPr lang="en-US" b="true" sz="19538" spc="-9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97.4%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09612" y="-666477"/>
            <a:ext cx="7178388" cy="11878896"/>
            <a:chOff x="0" y="0"/>
            <a:chExt cx="1890604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-5400000">
            <a:off x="15959685" y="815405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5959685" y="2386223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16815216" y="5270137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0136" y="7130873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graphicFrame>
        <p:nvGraphicFramePr>
          <p:cNvPr id="13" name="Results table"/>
          <p:cNvGraphicFramePr>
            <a:graphicFrameLocks noGrp="1"/>
          </p:cNvGraphicFramePr>
          <p:nvPr/>
        </p:nvGraphicFramePr>
        <p:xfrm>
          <a:off x="1645920" y="6720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52144"/>
                <a:gridCol w="1152144"/>
                <a:gridCol w="1152144"/>
                <a:gridCol w="1152144"/>
                <a:gridCol w="115214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Model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Acc.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Prec.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Recall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F1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T Hoves"/>
                        </a:rPr>
                        <a:t>FPR</a:t>
                      </a:r>
                    </a:p>
                  </a:txBody>
                  <a:tcPr marL="109728" marR="109728">
                    <a:solidFill>
                      <a:srgbClr val="000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GlassQuill verdict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97.4%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0.980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0.968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0.974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3FF"/>
                          </a:solidFill>
                          <a:latin typeface="TT Hoves"/>
                        </a:rPr>
                        <a:t>2.0%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DistilBERT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96.1%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0.934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0.993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0.963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7.1%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TF-IDF + LR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95.9%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0.970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0.948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0.959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3.0%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XGBoost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92.3%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0.933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0.912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0.923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6.6%</a:t>
                      </a:r>
                    </a:p>
                  </a:txBody>
                  <a:tcPr marL="109728" marR="109728"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Perplexity threshold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83.9%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0.892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0.771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0.827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43434"/>
                          </a:solidFill>
                          <a:latin typeface="TT Hoves"/>
                        </a:rPr>
                        <a:t>9.3%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" name="roc_curves" descr="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914400"/>
            <a:ext cx="420624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1691640"/>
            <a:ext cx="162763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600" spc="-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Comparative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60" y="2880360"/>
            <a:ext cx="162763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Same metrics for every model, in-domain, on unseen generators and under attack</a:t>
            </a:r>
          </a:p>
        </p:txBody>
      </p:sp>
      <p:pic>
        <p:nvPicPr>
          <p:cNvPr id="13" name="confusion_matrices" descr="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11880"/>
            <a:ext cx="16276320" cy="3255264"/>
          </a:xfrm>
          <a:prstGeom prst="rect">
            <a:avLst/>
          </a:prstGeom>
        </p:spPr>
      </p:pic>
      <p:graphicFrame>
        <p:nvGraphicFramePr>
          <p:cNvPr id="14" name="MAGE table"/>
          <p:cNvGraphicFramePr>
            <a:graphicFrameLocks noGrp="1"/>
          </p:cNvGraphicFramePr>
          <p:nvPr/>
        </p:nvGraphicFramePr>
        <p:xfrm>
          <a:off x="1005840" y="708660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MAGE (27 unseen generators)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Acc.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F1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FPR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GlassQuill verdict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66.4%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0.542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6.8%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Perplexity threshold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65.6%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0.551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11.1%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DistilBERT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65.5%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0.585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17.6%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XGBoost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63.4%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0.532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14.9%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TF-IDF + LR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60.6%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0.426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7.9%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Paraphrase table"/>
          <p:cNvGraphicFramePr>
            <a:graphicFrameLocks noGrp="1"/>
          </p:cNvGraphicFramePr>
          <p:nvPr/>
        </p:nvGraphicFramePr>
        <p:xfrm>
          <a:off x="9418320" y="7086600"/>
          <a:ext cx="7863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Paraphrase attack (recall)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Before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T Hoves"/>
                        </a:rPr>
                        <a:t>After</a:t>
                      </a:r>
                    </a:p>
                  </a:txBody>
                  <a:tcPr marL="91440" marR="91440" anchor="ctr">
                    <a:solidFill>
                      <a:srgbClr val="0003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GlassQuill verdict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98%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3FF"/>
                          </a:solidFill>
                          <a:latin typeface="TT Hoves"/>
                        </a:rPr>
                        <a:t>93%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DistilBERT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100%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100%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XGBoost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100%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95%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Perplexity threshold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100%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93%</a:t>
                      </a:r>
                    </a:p>
                  </a:txBody>
                  <a:tcPr marL="91440" marR="91440" anchor="ctr"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TF-IDF + LR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93%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43434"/>
                          </a:solidFill>
                          <a:latin typeface="TT Hoves"/>
                        </a:rPr>
                        <a:t>77%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03046" y="4688372"/>
            <a:ext cx="8395740" cy="408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SHAP shows how much each of the 18 signals moved the style model; low perplexity pushes hardest towards AI. The word model's weights are exact, so every word is coloured towards human or AI.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same view, live in the app: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126267" y="1407482"/>
            <a:ext cx="9760574" cy="304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5"/>
              </a:lnSpc>
            </a:pPr>
            <a:r>
              <a:rPr lang="en-US" b="true" sz="12388" spc="-60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Showing the evidence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4153815" y="7844385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4153815" y="20765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5009345" y="4960472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  <p:pic>
        <p:nvPicPr>
          <p:cNvPr id="12" name="Screenshot detect_words.png" descr="detect_wo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7178040"/>
            <a:ext cx="8458200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519" y="2097992"/>
            <a:ext cx="460969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Weaknesses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58519" y="5673138"/>
            <a:ext cx="378936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Strengths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58519" y="2939367"/>
            <a:ext cx="264649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66.4% on 27 unseen MAGE generators. Small open models (OPT, BLOOM, GPT-J) go undetected.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8519" y="6514513"/>
            <a:ext cx="273286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97.4% accuracy and 2.0% false positives on the test set. Every verdict comes with reasons.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03723" y="2097992"/>
            <a:ext cx="339857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Threats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03723" y="2939367"/>
            <a:ext cx="2747991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Paraphrasing (98% to 93% caught), plain writing by non-native writers, and new LLMs.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23805" y="597476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3103723" y="5673138"/>
            <a:ext cx="478439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Opportunities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3723" y="6514513"/>
            <a:ext cx="2646492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 modern reader model or Binoculars, sentence-level detection, calibrated probabilities.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98774" y="2154593"/>
            <a:ext cx="273982" cy="245024"/>
            <a:chOff x="0" y="0"/>
            <a:chExt cx="91718" cy="8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98774" y="5729739"/>
            <a:ext cx="273982" cy="245024"/>
            <a:chOff x="0" y="0"/>
            <a:chExt cx="91718" cy="820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86814" y="5729739"/>
            <a:ext cx="273982" cy="245024"/>
            <a:chOff x="0" y="0"/>
            <a:chExt cx="91718" cy="8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86814" y="2154593"/>
            <a:ext cx="273982" cy="245024"/>
            <a:chOff x="0" y="0"/>
            <a:chExt cx="91718" cy="82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822665" y="-795948"/>
            <a:ext cx="7178388" cy="11878896"/>
            <a:chOff x="0" y="0"/>
            <a:chExt cx="1890604" cy="31285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-5400000">
            <a:off x="-1304542" y="2940934"/>
            <a:ext cx="10287000" cy="440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13"/>
              </a:lnSpc>
            </a:pPr>
            <a:r>
              <a:rPr lang="en-US" sz="16913" spc="-811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SWOT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707284" y="-253023"/>
            <a:ext cx="3677731" cy="284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06"/>
              </a:lnSpc>
            </a:pPr>
            <a:r>
              <a:rPr lang="en-US" b="true" sz="22241" spc="-108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228" y="2265045"/>
            <a:ext cx="13935782" cy="13935782"/>
          </a:xfrm>
          <a:custGeom>
            <a:avLst/>
            <a:gdLst/>
            <a:ahLst/>
            <a:cxnLst/>
            <a:rect r="r" b="b" t="t" l="l"/>
            <a:pathLst>
              <a:path h="13935782" w="13935782">
                <a:moveTo>
                  <a:pt x="0" y="0"/>
                </a:moveTo>
                <a:lnTo>
                  <a:pt x="13935782" y="0"/>
                </a:lnTo>
                <a:lnTo>
                  <a:pt x="13935782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8749000" y="1219200"/>
            <a:ext cx="851030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and next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9000" y="3726057"/>
            <a:ext cx="7707571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Two explainable models, averaged, beat a fine-tuned DistilBERT (97.4% vs 96.1%) with under a third of its false positives, and every verdict can be checked. Removing dataset shortcuts mattered most.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/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Next: a threshold for a fixed 1% FPR, sentence-level detection for mixed texts, the RAID benchmark and Indian languages. A detector score is a second opinion, never proof.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03228" y="0"/>
            <a:ext cx="6669372" cy="4817439"/>
            <a:chOff x="0" y="0"/>
            <a:chExt cx="1756542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6542" cy="1268790"/>
            </a:xfrm>
            <a:custGeom>
              <a:avLst/>
              <a:gdLst/>
              <a:ahLst/>
              <a:cxnLst/>
              <a:rect r="r" b="b" t="t" l="l"/>
              <a:pathLst>
                <a:path h="1268790" w="1756542">
                  <a:moveTo>
                    <a:pt x="0" y="0"/>
                  </a:moveTo>
                  <a:lnTo>
                    <a:pt x="1756542" y="0"/>
                  </a:lnTo>
                  <a:lnTo>
                    <a:pt x="1756542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56542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145437" y="1339306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8448" y="348706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58" y="348706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5923" y="348706"/>
            <a:ext cx="192746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SIT Pune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GlassQuill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Case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0790" y="2862623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9505" y="5033021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DAHZBk2SHl0</dc:identifier>
  <dcterms:modified xsi:type="dcterms:W3CDTF">2011-08-01T06:04:30Z</dcterms:modified>
  <cp:revision>1</cp:revision>
  <dc:title>Blue Modern Project Presentation</dc:title>
</cp:coreProperties>
</file>